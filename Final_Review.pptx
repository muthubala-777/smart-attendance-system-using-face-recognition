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4114800" cy="4114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 •  FINAL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8778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of a Multi-Facet Facial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 Model for Institutional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Activities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141A47"/>
          </a:solidFill>
          <a:ln w="9525">
            <a:solidFill>
              <a:srgbClr val="E8B5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5204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COMPUTER VISION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3520440"/>
            <a:ext cx="3675888" cy="384048"/>
          </a:xfrm>
          <a:prstGeom prst="roundRect">
            <a:avLst>
              <a:gd name="adj" fmla="val 50000"/>
            </a:avLst>
          </a:prstGeom>
          <a:solidFill>
            <a:srgbClr val="141A47"/>
          </a:solidFill>
          <a:ln w="9525">
            <a:solidFill>
              <a:srgbClr val="E8B5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3520440"/>
            <a:ext cx="3675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MULTI-FACET BIOMETRICS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65008" y="352044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141A47"/>
          </a:solidFill>
          <a:ln w="9525">
            <a:solidFill>
              <a:srgbClr val="E8B5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5008" y="35204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AUTOMATION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603504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12700">
            <a:solidFill>
              <a:srgbClr val="2A3576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7365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Mrs. V. Devi Nandhini, M.E.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074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Department of AI &amp; 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486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574243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Kannan — 95192309015      R. Muthu Bala — 95192309028      M. Santhosh — 95192309044      K. Akash — 95192309701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40880" y="4297680"/>
            <a:ext cx="448056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12700">
            <a:solidFill>
              <a:srgbClr val="2A3576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06640" y="4572000"/>
            <a:ext cx="1371600" cy="137160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4764024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99.29%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06640" y="5367528"/>
            <a:ext cx="1371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ACCURACY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61120" y="50749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6.00s avg. verification  •  0% false omission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 &amp; Data Science  |  P.S.R. Engineering College, Sivakasi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DOMAIN NAME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 &amp; Data Science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Domain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(ResNet-34)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Pattern Recognition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1488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Enabling Technologies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24612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Detection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68-Point Landmarking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Distance-Weighted KNN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1488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6760" y="2788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Area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324612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attendance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timetable sync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 &amp; reporting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direction:  </a:t>
            </a:r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/ QR-dependent identity checks with an automatic, schedule-driven, multi-condition face recognition pipeline for classroom attendance.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ABSTRACT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Timetable-Driven, Multi-Facet Attendance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82296" cy="1691640"/>
          </a:xfrm>
          <a:prstGeom prst="rect">
            <a:avLst/>
          </a:prstGeom>
          <a:solidFill>
            <a:srgbClr val="B0413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04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roll-calls, sign-in sheets and QR scans are slow, prone to proxy marking, and break down under real classroom conditions — lighting shifts, head tilt, glasses and beards.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6916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0" y="1691640"/>
            <a:ext cx="82296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83794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5080" y="2130552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MFIAS removes QR/manual triggers entirely. An Automated Departmental Timetable Engine starts and ends each attendance session on its own, while multi-facet computer vision verifies identity.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520440"/>
            <a:ext cx="82296" cy="1691640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6674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B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3959352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detection, Dlib 68-point landmarking, ResNet-34 (128-D triplet-loss embeddings) and distance-weighted KNN (k=3) work together to resist pose, lighting and occlusion variance.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5204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3520440"/>
            <a:ext cx="82296" cy="169164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366674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5080" y="3959352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in/out timestamps, duration and status are logged automatically, with tamper-proof exports to CSV, Excel and PDF for faculty and administrators.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39496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623560"/>
            <a:ext cx="1051560" cy="320040"/>
          </a:xfrm>
          <a:prstGeom prst="roundRect">
            <a:avLst>
              <a:gd name="adj" fmla="val 48571"/>
            </a:avLst>
          </a:prstGeom>
          <a:solidFill>
            <a:srgbClr val="E8B54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2356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99.29%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03120" y="539496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outcome:  AUTOMATIC  +  ROBUST  +  AUDITABLE ATTENDANCE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OBJECTIVE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Objectives Driving the System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7455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93852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385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9966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and QR-based session triggers using an Automated Departmental Timetable Engine.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1127455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89864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986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743200"/>
            <a:ext cx="9966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robust identity verification under real-world variance — lighting, head tilt (±15°), glasses and beards.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1127455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85876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85876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703320"/>
            <a:ext cx="9966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simultaneous multi-student verification from a single continuous video stream (30 fps).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1127455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81888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8188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663440"/>
            <a:ext cx="9966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dynamic In/Out state machine to log entry, exit and duration for every session.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623560"/>
            <a:ext cx="1127455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5779008"/>
            <a:ext cx="530352" cy="530352"/>
          </a:xfrm>
          <a:prstGeom prst="roundRect">
            <a:avLst>
              <a:gd name="adj" fmla="val 2069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7790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5623560"/>
            <a:ext cx="9966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role-based admin governance with tamper-proof, multi-format (CSV / XLSX / PDF) reporting.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LITERATURE SURVEY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Years of Automated Attendance Research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4160520"/>
        </p:xfrm>
        <a:graphic>
          <a:graphicData uri="http://schemas.openxmlformats.org/drawingml/2006/table">
            <a:tbl>
              <a:tblPr/>
              <a:tblGrid>
                <a:gridCol w="822960"/>
                <a:gridCol w="1920240"/>
                <a:gridCol w="2834640"/>
                <a:gridCol w="569671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Methodology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Observation / 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Bairagi et 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Haar Cascade + LBPH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cost, fast; fails under off-pose &amp; lighting shifts.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Trivedi et 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+ Eigenfaces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Automates logging; rigid alignment, zero occlusion tolerance.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Kamil et 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+ Mask CNN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masked faces; isolated occlusions only.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Lateef &amp; Kamil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YOLOv7 deep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multi-face tracking; heavy GPU load &amp; latency.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Afiyanto et 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filter + CNN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Illumination normalization; fails on composite angles.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 et 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Haar + ResNet-128D + KNN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99.29% multi-facet robustness; 6.00s latency, no timetable link.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gap: robustness studies stop at recognition — none automate session scheduling itself.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SUMMARY OF LITERATURE SURVEY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and Our Response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Haar / LBPH pipelines are cheap and fast enough for basic attendance automation on low-power hardware.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Improves Accuracy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0" y="22860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embeddings (ResNet-34, triplet loss) separate identities far better than raw pixel or Eigenface matching.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4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Remains Hard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0" y="22860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Lighting, head pose, accessories and — critically — manual/QR session triggers still limit real deployment.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1148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B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4348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systems address only one variation at a time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pipelines raise computational cost for real-time use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verification alone does not decide when to run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ties recognition to a live class timetable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9632" y="388620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19672" y="41148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PROJECT RESPONSE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9672" y="44348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Engine → automatic session start/stop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+ Dlib + ResNet-34 → pose &amp; occlusion robustness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Distance-weighted KNN → instant enrollment, no retrain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In/Out state machine + role-based reporting → auditability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 EXISTING VS PROPOSED SYSTEM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Manual / QR Triggers to Autonomous Scheduling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4343400"/>
        </p:xfrm>
        <a:graphic>
          <a:graphicData uri="http://schemas.openxmlformats.org/drawingml/2006/table">
            <a:tbl>
              <a:tblPr/>
              <a:tblGrid>
                <a:gridCol w="2377440"/>
                <a:gridCol w="4443984"/>
                <a:gridCol w="4453128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/ Conventional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— MFIAS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roll call or QR scan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Departmental Timetable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Fingerprint / single-angle face 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Multi-facet: Haar + Dlib 68-pt + ResNet-34 + 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Pose / Lighting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tilt &amp; dim 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to ±15° tilt and low-lux conditions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Occlusion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with glasses / beard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Triplet-loss embeddings absorb minor occlusion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Multi-Student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at a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Simultaneous batch verification (up to 6+)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registers / basic 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In/Out timestamps, duration, tamper-proof export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 BLOCK DIAGRAM FOR PROPOSED SYSTEM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MFIAS — Six-Module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33172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2630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331720"/>
            <a:ext cx="15453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148840" y="283464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04872" y="233172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2630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78024" y="2331720"/>
            <a:ext cx="15453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Engine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96512" y="283464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52544" y="233172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2630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5696" y="2331720"/>
            <a:ext cx="15453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Multi-Student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Ingestion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44184" y="283464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0216" y="233172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2630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2331720"/>
            <a:ext cx="15453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Feature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(ResNet-34)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91856" y="283464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47888" y="233172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2630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331720"/>
            <a:ext cx="15453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Distance-Weighted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Classifier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939528" y="283464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95560" y="2331720"/>
            <a:ext cx="1691640" cy="1417320"/>
          </a:xfrm>
          <a:prstGeom prst="roundRect">
            <a:avLst>
              <a:gd name="adj" fmla="val 6452"/>
            </a:avLst>
          </a:prstGeom>
          <a:solidFill>
            <a:srgbClr val="E8B54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68712" y="2331720"/>
            <a:ext cx="154533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/ Out Tracking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Admin Reports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11274552" cy="1737360"/>
          </a:xfrm>
          <a:prstGeom prst="roundRect">
            <a:avLst>
              <a:gd name="adj" fmla="val 4211"/>
            </a:avLst>
          </a:prstGeom>
          <a:solidFill>
            <a:srgbClr val="141A47"/>
          </a:solidFill>
          <a:ln w="12700">
            <a:solidFill>
              <a:srgbClr val="2A3576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44348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rule: attendance is confirmed only when SESSION WINDOW + VERIFIED IDENTITY + DISTANCE THRESHOLD (≤ 0.60) all hold true.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5029200"/>
            <a:ext cx="1938528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9525">
            <a:solidFill>
              <a:srgbClr val="E8B5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02920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QR CODE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90088" y="5029200"/>
            <a:ext cx="2432304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9525">
            <a:solidFill>
              <a:srgbClr val="E8B5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0088" y="502920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TIMETABLE-SYNCED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50992" y="5029200"/>
            <a:ext cx="2679192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9525">
            <a:solidFill>
              <a:srgbClr val="E8B5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0992" y="5029200"/>
            <a:ext cx="2679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MULTI-FACET ROBUST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58784" y="5029200"/>
            <a:ext cx="2185416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9525">
            <a:solidFill>
              <a:srgbClr val="E8B5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58784" y="502920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LOGS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 MODULES DESCRIPTION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Interrelated System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624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Enrollment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2971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30 face images per student across frontal, yaw ±15° and lighting variants; stores 128-D ResNet-34 embeddings via Pickle.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53712" y="2624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Timetable Scheduling Engine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53712" y="2971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daemon thread compares the hardware clock to timetable slots; auto-triggers camera 2 minutes before class start.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94192" y="2624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Multi-Person Recognition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94192" y="2971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Haar Cascade at 30 fps with AdaBoost cascades; Dlib 68-point landmarks align faces despite head tilt.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4206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" y="48188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Feature Extraction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3232" y="5166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ResNet-34 backbone trained with Triplet Loss (α = 0.2) converts landmarks into a 128-D Euclidean embedding space.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297680" y="397764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4206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53712" y="48188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Classification (k=3)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53712" y="5166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Distance-weighted voting with unknown-rejection threshold (d ≤ 0.60) flags and logs unregistered faces.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8138160" y="397764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4206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394192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94192" y="48188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In/Out Tracking &amp; Admin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394192" y="5166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Entry/exit timestamps, duration, JWT role-based access (Student / Faculty / Admin), CSV/XLSX/PDF export.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 OUTPUT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MFIAS Admin Dashboard — Live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74552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141A4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20240"/>
            <a:ext cx="11274552" cy="2286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847088"/>
            <a:ext cx="146304" cy="146304"/>
          </a:xfrm>
          <a:prstGeom prst="ellipse">
            <a:avLst/>
          </a:prstGeom>
          <a:solidFill>
            <a:srgbClr val="ED6A5E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847088"/>
            <a:ext cx="146304" cy="14630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" y="1847088"/>
            <a:ext cx="146304" cy="146304"/>
          </a:xfrm>
          <a:prstGeom prst="ellipse">
            <a:avLst/>
          </a:prstGeom>
          <a:solidFill>
            <a:srgbClr val="61C454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0" y="1783080"/>
            <a:ext cx="4937760" cy="274320"/>
          </a:xfrm>
          <a:prstGeom prst="roundRect">
            <a:avLst>
              <a:gd name="adj" fmla="val 50000"/>
            </a:avLst>
          </a:prstGeom>
          <a:solidFill>
            <a:srgbClr val="2A3576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mfias.psrec.edu.in / admin / attendance / live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" y="2350008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1014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2532888"/>
            <a:ext cx="109728" cy="109728"/>
          </a:xfrm>
          <a:prstGeom prst="ellipse">
            <a:avLst/>
          </a:prstGeom>
          <a:solidFill>
            <a:srgbClr val="E24C4C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4597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CAM 01 · CVD-601 · Section 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89320" y="245973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fps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25880" y="3035808"/>
            <a:ext cx="1234440" cy="1417320"/>
          </a:xfrm>
          <a:prstGeom prst="roundRect">
            <a:avLst>
              <a:gd name="adj" fmla="val 11111"/>
            </a:avLst>
          </a:prstGeom>
          <a:solidFill>
            <a:srgbClr val="232A55"/>
          </a:solidFill>
          <a:ln w="22225">
            <a:solidFill>
              <a:srgbClr val="5CD6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71523" y="3290926"/>
            <a:ext cx="543154" cy="543154"/>
          </a:xfrm>
          <a:prstGeom prst="ellipse">
            <a:avLst/>
          </a:prstGeom>
          <a:solidFill>
            <a:srgbClr val="3A4278"/>
          </a:solidFill>
          <a:ln/>
        </p:spPr>
      </p:sp>
      <p:sp>
        <p:nvSpPr>
          <p:cNvPr id="18" name="Shape 16"/>
          <p:cNvSpPr/>
          <p:nvPr/>
        </p:nvSpPr>
        <p:spPr>
          <a:xfrm>
            <a:off x="1307592" y="4160520"/>
            <a:ext cx="1271016" cy="292608"/>
          </a:xfrm>
          <a:prstGeom prst="roundRect">
            <a:avLst/>
          </a:prstGeom>
          <a:solidFill>
            <a:srgbClr val="5CD68A"/>
          </a:solidFill>
          <a:ln/>
        </p:spPr>
      </p:sp>
      <p:sp>
        <p:nvSpPr>
          <p:cNvPr id="19" name="Text 17"/>
          <p:cNvSpPr/>
          <p:nvPr/>
        </p:nvSpPr>
        <p:spPr>
          <a:xfrm>
            <a:off x="1307592" y="4160520"/>
            <a:ext cx="12710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Kannan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07592" y="4315968"/>
            <a:ext cx="127101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246120" y="3218688"/>
            <a:ext cx="1234440" cy="1417320"/>
          </a:xfrm>
          <a:prstGeom prst="roundRect">
            <a:avLst>
              <a:gd name="adj" fmla="val 11111"/>
            </a:avLst>
          </a:prstGeom>
          <a:solidFill>
            <a:srgbClr val="232A55"/>
          </a:solidFill>
          <a:ln w="22225">
            <a:solidFill>
              <a:srgbClr val="5CD6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91763" y="3473806"/>
            <a:ext cx="543154" cy="543154"/>
          </a:xfrm>
          <a:prstGeom prst="ellipse">
            <a:avLst/>
          </a:prstGeom>
          <a:solidFill>
            <a:srgbClr val="3A4278"/>
          </a:solidFill>
          <a:ln/>
        </p:spPr>
      </p:sp>
      <p:sp>
        <p:nvSpPr>
          <p:cNvPr id="23" name="Shape 21"/>
          <p:cNvSpPr/>
          <p:nvPr/>
        </p:nvSpPr>
        <p:spPr>
          <a:xfrm>
            <a:off x="3227832" y="4343400"/>
            <a:ext cx="1271016" cy="292608"/>
          </a:xfrm>
          <a:prstGeom prst="roundRect">
            <a:avLst/>
          </a:prstGeom>
          <a:solidFill>
            <a:srgbClr val="5CD68A"/>
          </a:solidFill>
          <a:ln/>
        </p:spPr>
      </p:sp>
      <p:sp>
        <p:nvSpPr>
          <p:cNvPr id="24" name="Text 22"/>
          <p:cNvSpPr/>
          <p:nvPr/>
        </p:nvSpPr>
        <p:spPr>
          <a:xfrm>
            <a:off x="3227832" y="4343400"/>
            <a:ext cx="12710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Santhosh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227832" y="4498848"/>
            <a:ext cx="127101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166360" y="3127248"/>
            <a:ext cx="1234440" cy="1417320"/>
          </a:xfrm>
          <a:prstGeom prst="roundRect">
            <a:avLst>
              <a:gd name="adj" fmla="val 11111"/>
            </a:avLst>
          </a:prstGeom>
          <a:solidFill>
            <a:srgbClr val="232A55"/>
          </a:solidFill>
          <a:ln w="22225">
            <a:solidFill>
              <a:srgbClr val="5CD6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12003" y="3382366"/>
            <a:ext cx="543154" cy="543154"/>
          </a:xfrm>
          <a:prstGeom prst="ellipse">
            <a:avLst/>
          </a:prstGeom>
          <a:solidFill>
            <a:srgbClr val="3A4278"/>
          </a:solidFill>
          <a:ln/>
        </p:spPr>
      </p:sp>
      <p:sp>
        <p:nvSpPr>
          <p:cNvPr id="28" name="Shape 26"/>
          <p:cNvSpPr/>
          <p:nvPr/>
        </p:nvSpPr>
        <p:spPr>
          <a:xfrm>
            <a:off x="5148072" y="4251960"/>
            <a:ext cx="1271016" cy="292608"/>
          </a:xfrm>
          <a:prstGeom prst="roundRect">
            <a:avLst/>
          </a:prstGeom>
          <a:solidFill>
            <a:srgbClr val="5CD68A"/>
          </a:solidFill>
          <a:ln/>
        </p:spPr>
      </p:sp>
      <p:sp>
        <p:nvSpPr>
          <p:cNvPr id="29" name="Text 27"/>
          <p:cNvSpPr/>
          <p:nvPr/>
        </p:nvSpPr>
        <p:spPr>
          <a:xfrm>
            <a:off x="5148072" y="4251960"/>
            <a:ext cx="12710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Muthu Bala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148072" y="4407408"/>
            <a:ext cx="127101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99.1%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005840" y="527608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Session: AD8601 · Computer Vision &amp; Deep Learning · 09:00–09:50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78040" y="2350008"/>
            <a:ext cx="4233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ATTENDANCE FEED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178040" y="2715768"/>
            <a:ext cx="4233672" cy="475488"/>
          </a:xfrm>
          <a:prstGeom prst="roundRect">
            <a:avLst>
              <a:gd name="adj" fmla="val 11538"/>
            </a:avLst>
          </a:prstGeom>
          <a:solidFill>
            <a:srgbClr val="F4F6FB"/>
          </a:solidFill>
          <a:ln w="6350">
            <a:solidFill>
              <a:srgbClr val="E3E7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87768" y="2889504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0" y="2743200"/>
            <a:ext cx="3822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Kannan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7498080" y="2953512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09:02:14   ·   Present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178040" y="3282696"/>
            <a:ext cx="423367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3E7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87768" y="3456432"/>
            <a:ext cx="128016" cy="128016"/>
          </a:xfrm>
          <a:prstGeom prst="ellipse">
            <a:avLst/>
          </a:prstGeom>
          <a:solidFill>
            <a:srgbClr val="B87A1E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0" y="3310128"/>
            <a:ext cx="3822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Muthu Bala</a:t>
            </a:r>
            <a:endParaRPr lang="en-US" sz="970" dirty="0"/>
          </a:p>
        </p:txBody>
      </p:sp>
      <p:sp>
        <p:nvSpPr>
          <p:cNvPr id="40" name="Text 38"/>
          <p:cNvSpPr/>
          <p:nvPr/>
        </p:nvSpPr>
        <p:spPr>
          <a:xfrm>
            <a:off x="7498080" y="352044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09:11:05   ·   Late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178040" y="3849624"/>
            <a:ext cx="4233672" cy="475488"/>
          </a:xfrm>
          <a:prstGeom prst="roundRect">
            <a:avLst>
              <a:gd name="adj" fmla="val 11538"/>
            </a:avLst>
          </a:prstGeom>
          <a:solidFill>
            <a:srgbClr val="F4F6FB"/>
          </a:solidFill>
          <a:ln w="6350">
            <a:solidFill>
              <a:srgbClr val="E3E7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87768" y="4023360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0" y="3877056"/>
            <a:ext cx="3822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Santhosh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7498080" y="4087368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09:01:47   ·   Present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178040" y="4416552"/>
            <a:ext cx="4233672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3E7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87768" y="4590288"/>
            <a:ext cx="128016" cy="128016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47" name="Text 45"/>
          <p:cNvSpPr/>
          <p:nvPr/>
        </p:nvSpPr>
        <p:spPr>
          <a:xfrm>
            <a:off x="7498080" y="4443984"/>
            <a:ext cx="3822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Akash</a:t>
            </a:r>
            <a:endParaRPr lang="en-US" sz="970" dirty="0"/>
          </a:p>
        </p:txBody>
      </p:sp>
      <p:sp>
        <p:nvSpPr>
          <p:cNvPr id="48" name="Text 46"/>
          <p:cNvSpPr/>
          <p:nvPr/>
        </p:nvSpPr>
        <p:spPr>
          <a:xfrm>
            <a:off x="7498080" y="4654296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·   Absent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05840" y="5897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514600" y="5824728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51" name="Text 49"/>
          <p:cNvSpPr/>
          <p:nvPr/>
        </p:nvSpPr>
        <p:spPr>
          <a:xfrm>
            <a:off x="2514600" y="58247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611880" y="5824728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2E7D5B"/>
          </a:solidFill>
          <a:ln/>
        </p:spPr>
      </p:sp>
      <p:sp>
        <p:nvSpPr>
          <p:cNvPr id="53" name="Text 51"/>
          <p:cNvSpPr/>
          <p:nvPr/>
        </p:nvSpPr>
        <p:spPr>
          <a:xfrm>
            <a:off x="3611880" y="58247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709160" y="5824728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B0413E"/>
          </a:solidFill>
          <a:ln/>
        </p:spPr>
      </p:sp>
      <p:sp>
        <p:nvSpPr>
          <p:cNvPr id="55" name="Text 53"/>
          <p:cNvSpPr/>
          <p:nvPr/>
        </p:nvSpPr>
        <p:spPr>
          <a:xfrm>
            <a:off x="4709160" y="58247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897880" y="5824728"/>
            <a:ext cx="5559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Unknown-person alert threshold: distance &gt; 0.60 → flagged &amp; logged for admin review</a:t>
            </a:r>
            <a:endParaRPr lang="en-US" sz="930" dirty="0"/>
          </a:p>
        </p:txBody>
      </p:sp>
      <p:sp>
        <p:nvSpPr>
          <p:cNvPr id="57" name="Text 5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  RESULTS AND DISCUSSIONS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Evaluation on 3,000+ Images / 5,173 Frames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288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99.29%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Recognition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10128" y="173736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8288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6.00 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10128" y="24231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Response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63056" y="173736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63056" y="18288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63056" y="24231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Omission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15984" y="173736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15984" y="18288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78.46%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15984" y="24231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Detection Rate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(Video Stream)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6903720" cy="1874520"/>
        </p:xfrm>
        <a:graphic>
          <a:graphicData uri="http://schemas.openxmlformats.org/drawingml/2006/table">
            <a:tbl>
              <a:tblPr/>
              <a:tblGrid>
                <a:gridCol w="2194560"/>
                <a:gridCol w="1417320"/>
                <a:gridCol w="1143000"/>
                <a:gridCol w="105156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Retraining Need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Retrain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 MLP (64)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Backprop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KNN (Ours)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Insert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589520" y="3337560"/>
            <a:ext cx="4142232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0" y="3493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VERIFICATION THROUGHPUT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863840" y="3840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student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41832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ms  •  100.0%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863840" y="4160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students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418320" y="4160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ms  •  100.0%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863840" y="4480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students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4183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560 ms  •  98.5%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863840" y="4800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students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41832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822 ms  •  97.2%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200" y="54406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KNN matches SVM/MLP accuracy while allowing instant, retrain-free enrollment of new students — the key operational advantage for a live institution.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  CONCLUSION AND FUTURE ENHANCEMENT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Self-Reliant, Contactless Attendance Backbone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141A47"/>
          </a:solidFill>
          <a:ln w="12700">
            <a:solidFill>
              <a:srgbClr val="2A3576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B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MFIAS removes manual and QR-based session triggers through an Automated Departmental Timetable Engine, while a Haar + Dlib + ResNet-34 + KNN pipeline delivers 99.29% recognition accuracy, 6.00s average response, and a 0% false-omission rate across lighting, pose and accessory variations. In/Out state tracking and role-based, multi-format reporting complete a fully auditable attendance record.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99632" y="1828800"/>
            <a:ext cx="55321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9672" y="2011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19672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19672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14032" y="238658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 Anti-Spoofing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14032" y="26974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infrared depth cameras with eye-blink CNN classifiers for hardware-level spoof detection.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519672" y="3566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14032" y="352958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Acceleration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14032" y="38404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edge nodes with TensorRT to cut inference latency below 1 second in large auditoriums.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6519672" y="4709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519672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14032" y="467258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14032" y="49834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identification of chronic absenteeism patterns from accumulated attendance data.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2026-09-23T14:54:32Z</dcterms:created>
  <dcterms:modified xsi:type="dcterms:W3CDTF">2026-09-23T14:54:32Z</dcterms:modified>
</cp:coreProperties>
</file>