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4" r:id="rId11"/>
    <p:sldId id="265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598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3566160"/>
            <a:ext cx="3840480" cy="384048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297680"/>
            <a:ext cx="2377440" cy="237744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149840" y="4846320"/>
            <a:ext cx="1280160" cy="1280160"/>
          </a:xfrm>
          <a:prstGeom prst="ellipse">
            <a:avLst/>
          </a:prstGeom>
          <a:solidFill>
            <a:srgbClr val="02C39A">
              <a:alpha val="60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103120"/>
            <a:ext cx="8503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 Recognition Based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System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5720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2057400" y="457200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Devi Nandhini V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9560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2057400" y="495604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/ Machine Learning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34009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2057400" y="5340095"/>
            <a:ext cx="5943600" cy="1060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A.Kannan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- 95192309015</a:t>
            </a:r>
          </a:p>
          <a:p>
            <a:pPr marL="0" indent="0">
              <a:buNone/>
            </a:pPr>
            <a:r>
              <a:rPr lang="en-US" sz="12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R.Muthu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Bala  - 95192309028</a:t>
            </a:r>
          </a:p>
          <a:p>
            <a:pPr marL="0" indent="0">
              <a:buNone/>
            </a:pPr>
            <a:r>
              <a:rPr lang="en-US" sz="12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M.Santhosh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- 95192309044</a:t>
            </a:r>
          </a:p>
          <a:p>
            <a:pPr marL="0" indent="0">
              <a:buNone/>
            </a:pPr>
            <a:r>
              <a:rPr lang="en-US" sz="12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K.Akash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- 95192309701</a:t>
            </a:r>
          </a:p>
          <a:p>
            <a:pPr marL="0" indent="0">
              <a:buNone/>
            </a:pP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675120" cy="4206240"/>
          </a:xfrm>
          <a:prstGeom prst="roundRect">
            <a:avLst>
              <a:gd name="adj" fmla="val 1739"/>
            </a:avLst>
          </a:prstGeom>
          <a:solidFill>
            <a:srgbClr val="F4F7F9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0116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 Intelligence &amp; Data Science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146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Sub-domain: Computer Vision  |  Biometric Authentication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3118104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43000" y="2990088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deep-learning based feature encoding and classical machine-learning classification together (hybrid pipeline).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3986784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43000" y="3858768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under image-based biometric identification — verifying identity purely from facial appearance, with no physical contact.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4855464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43000" y="4727448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relevant to institutional automation: attendance, access control, and identity verification.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498080" y="1737360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0" y="19019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Computer Vision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0" y="230428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detection &amp; alignment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498080" y="3200400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0" y="33649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0" y="376732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128-D facial embeddings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498080" y="4663440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065A8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0" y="48280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0" y="523036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identity classification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7863840" cy="4297680"/>
          </a:xfrm>
          <a:prstGeom prst="roundRect">
            <a:avLst>
              <a:gd name="adj" fmla="val 1277"/>
            </a:avLst>
          </a:prstGeom>
          <a:solidFill>
            <a:srgbClr val="F4F7F9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72237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attendance methods such as roll calls and ID-card checks are slow and remain open to impersonation, since a photo ID can be verified visually even when the person presenting it is not its rightful owner. This project develops a facial-recognition based attendance system that identifies individuals directly from a live camera feed, removing the need for cards, tokens, or manual checks. Each face is detected, cropped, and converted into a compact numerical signature (a facial embedding) that stays stable across changes in lighting, head angle, and accessories such as glasses. A lightweight classifier then compares this signature against a stored database to confirm identity and log attendance automatically with a timestamp. The goal is a solution that is accurate, fast enough for real-time use, and practical to deploy at classroom or examination-hall entrances.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686800" y="1737360"/>
            <a:ext cx="2926080" cy="1325880"/>
          </a:xfrm>
          <a:prstGeom prst="roundRect">
            <a:avLst>
              <a:gd name="adj" fmla="val 5517"/>
            </a:avLst>
          </a:prstGeom>
          <a:solidFill>
            <a:srgbClr val="21295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869680" y="184708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869680" y="239572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9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stages: detect → encode → classify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686800" y="3246120"/>
            <a:ext cx="2926080" cy="1325880"/>
          </a:xfrm>
          <a:prstGeom prst="roundRect">
            <a:avLst>
              <a:gd name="adj" fmla="val 5517"/>
            </a:avLst>
          </a:prstGeom>
          <a:solidFill>
            <a:srgbClr val="21295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869680" y="335584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128-D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8869680" y="390448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9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embedding vector per face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686800" y="4754880"/>
            <a:ext cx="2926080" cy="1325880"/>
          </a:xfrm>
          <a:prstGeom prst="roundRect">
            <a:avLst>
              <a:gd name="adj" fmla="val 5517"/>
            </a:avLst>
          </a:prstGeom>
          <a:solidFill>
            <a:srgbClr val="21295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869680" y="486460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8869680" y="541324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9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contact or ID cards required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F4F7F9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574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3911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Reliable face detection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517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faces accurately under normal classroom camera conditions before any recognition step runs.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55080" y="178308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F4F7F9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9400" y="20574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2940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269480" y="203911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 facial encoding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26517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identity signatures that stay consistent despite lighting changes, head-tilt, and accessories like glasses or beards.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F4F7F9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3434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32511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Lightweight classification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9377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identities using a low-latency algorithm that supports adding new students without retraining from scratch.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55080" y="406908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F4F7F9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29400" y="43434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2940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269480" y="432511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attendance logging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6675120" y="49377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recognized identities with a timestamp, and flag any unrecognized face instead of silently accepting it.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24712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783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2971800" y="1783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537960" y="17830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31343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Bairagi et al.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971800" y="231343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Haar Cascade + LBPH, OpenCV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313432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and fast, but degrades badly under uneven lighting or occlusion.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953512"/>
            <a:ext cx="11247120" cy="713232"/>
          </a:xfrm>
          <a:prstGeom prst="rect">
            <a:avLst/>
          </a:prstGeom>
          <a:solidFill>
            <a:srgbClr val="F4F7F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302666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 et al.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2971800" y="302666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with synthetic mask data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3026664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~82% recognition, 80% mask detection — tuned for one variation only.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373989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Lateef &amp; Kamil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2971800" y="373989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YOLOv7 on live IP camera feeds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3739896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90% accuracy, but needs heavy compute — unsuitable for low-cost edge devices.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379976"/>
            <a:ext cx="11247120" cy="713232"/>
          </a:xfrm>
          <a:prstGeom prst="rect">
            <a:avLst/>
          </a:prstGeom>
          <a:solidFill>
            <a:srgbClr val="F4F7F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5800" y="445312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Patel et al.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2971800" y="445312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preprocessing filters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445312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breaks down with everyday glasses or dense facial hair.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516636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Afiyanto et al.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2971800" y="516636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embeddings, varied lighting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537960" y="516636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uneven illumination sharply disrupts feature extraction.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2240280"/>
            <a:ext cx="11247120" cy="0"/>
          </a:xfrm>
          <a:prstGeom prst="line">
            <a:avLst/>
          </a:prstGeom>
          <a:noFill/>
          <a:ln w="9525">
            <a:solidFill>
              <a:srgbClr val="D8E1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2953512"/>
            <a:ext cx="11247120" cy="0"/>
          </a:xfrm>
          <a:prstGeom prst="line">
            <a:avLst/>
          </a:prstGeom>
          <a:noFill/>
          <a:ln w="9525">
            <a:solidFill>
              <a:srgbClr val="D8E1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3666744"/>
            <a:ext cx="11247120" cy="0"/>
          </a:xfrm>
          <a:prstGeom prst="line">
            <a:avLst/>
          </a:prstGeom>
          <a:noFill/>
          <a:ln w="9525">
            <a:solidFill>
              <a:srgbClr val="D8E1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4379976"/>
            <a:ext cx="11247120" cy="0"/>
          </a:xfrm>
          <a:prstGeom prst="line">
            <a:avLst/>
          </a:prstGeom>
          <a:noFill/>
          <a:ln w="9525">
            <a:solidFill>
              <a:srgbClr val="D8E1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5093208"/>
            <a:ext cx="11247120" cy="0"/>
          </a:xfrm>
          <a:prstGeom prst="line">
            <a:avLst/>
          </a:prstGeom>
          <a:noFill/>
          <a:ln w="9525">
            <a:solidFill>
              <a:srgbClr val="D8E1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5806440"/>
            <a:ext cx="11247120" cy="0"/>
          </a:xfrm>
          <a:prstGeom prst="line">
            <a:avLst/>
          </a:prstGeom>
          <a:noFill/>
          <a:ln w="9525">
            <a:solidFill>
              <a:srgbClr val="D8E1E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of Literature Survey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literature agrees 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203704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075688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methods (Haar Cascade, LBPH) are fast and cheap, but fail under uneven lighting and occlusion.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980944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852928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deep-learning pipelines improve accuracy but add latency that is a poor fit for real-time entry checks.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758184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630168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systems are tuned for a single disruption (lighting OR pose OR accessories) — not all three together.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173736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21295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766560" y="1965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 GAP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766560" y="2377440"/>
            <a:ext cx="4480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commonly used lightweight setup is evaluated against lighting change, head-pose variation, and facial accessories occurring at the same time — the exact combination a real classroom or exam hall produces. Heavier CNN pipelines that could handle this combination are too slow for smooth student entry.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766560" y="4434840"/>
            <a:ext cx="4480560" cy="0"/>
          </a:xfrm>
          <a:prstGeom prst="line">
            <a:avLst/>
          </a:prstGeom>
          <a:noFill/>
          <a:ln w="12700">
            <a:solidFill>
              <a:srgbClr val="3A4A7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66560" y="45720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project's direction: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49377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a lightweight detector with a deep-learning encoder and a fast classifier, so accuracy under combined real-world conditions does not come at the cost of response time.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CEDB0BB-45A1-2169-192D-F25C8EA758F3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8645FA-C3B9-BFB5-150A-341956F97D90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AA64EE-224D-B4B9-B43F-37AF77860310}"/>
              </a:ext>
            </a:extLst>
          </p:cNvPr>
          <p:cNvSpPr txBox="1"/>
          <p:nvPr/>
        </p:nvSpPr>
        <p:spPr>
          <a:xfrm>
            <a:off x="502920" y="91440"/>
            <a:ext cx="3677545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 Key Literature Reference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95427F-3153-9958-EA84-CCA104277FFD}"/>
              </a:ext>
            </a:extLst>
          </p:cNvPr>
          <p:cNvSpPr txBox="1"/>
          <p:nvPr/>
        </p:nvSpPr>
        <p:spPr>
          <a:xfrm>
            <a:off x="9784080" y="109728"/>
            <a:ext cx="187451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EDCEB"/>
                </a:solidFill>
                <a:latin typeface="Aptos"/>
              </a:defRPr>
            </a:pPr>
            <a:r>
              <a:t>REFERENCE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BE52CF-53EA-9053-8999-BF877B3C69CB}"/>
              </a:ext>
            </a:extLst>
          </p:cNvPr>
          <p:cNvSpPr txBox="1"/>
          <p:nvPr/>
        </p:nvSpPr>
        <p:spPr>
          <a:xfrm>
            <a:off x="685800" y="896112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0F1F34"/>
                </a:solidFill>
                <a:latin typeface="Aptos"/>
              </a:defRPr>
            </a:pPr>
            <a:r>
              <a:t>Primary 2026 literature used for the review</a:t>
            </a:r>
          </a:p>
        </p:txBody>
      </p:sp>
      <p:sp>
        <p:nvSpPr>
          <p:cNvPr id="13" name="Rounded Rectangle 6">
            <a:extLst>
              <a:ext uri="{FF2B5EF4-FFF2-40B4-BE49-F238E27FC236}">
                <a16:creationId xmlns:a16="http://schemas.microsoft.com/office/drawing/2014/main" id="{367D9CD8-9BF1-2DCF-998F-FD3D2CE93B9A}"/>
              </a:ext>
            </a:extLst>
          </p:cNvPr>
          <p:cNvSpPr/>
          <p:nvPr/>
        </p:nvSpPr>
        <p:spPr>
          <a:xfrm>
            <a:off x="868680" y="1783080"/>
            <a:ext cx="103784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61C2A4E-E3B4-3677-4831-252E9A4BDFD6}"/>
              </a:ext>
            </a:extLst>
          </p:cNvPr>
          <p:cNvSpPr/>
          <p:nvPr/>
        </p:nvSpPr>
        <p:spPr>
          <a:xfrm>
            <a:off x="868680" y="1783080"/>
            <a:ext cx="64008" cy="1874519"/>
          </a:xfrm>
          <a:prstGeom prst="rect">
            <a:avLst/>
          </a:prstGeom>
          <a:solidFill>
            <a:srgbClr val="16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FB242F-F24B-3858-C379-5605793CBB15}"/>
              </a:ext>
            </a:extLst>
          </p:cNvPr>
          <p:cNvSpPr txBox="1"/>
          <p:nvPr/>
        </p:nvSpPr>
        <p:spPr>
          <a:xfrm>
            <a:off x="1069848" y="1929384"/>
            <a:ext cx="10030967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1F34"/>
                </a:solidFill>
                <a:latin typeface="Aptos"/>
              </a:defRPr>
            </a:pPr>
            <a:r>
              <a:t>JACK ET AL. (2026) • DISCOVER ARTIFICIAL INTELLIGENCE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EB7BEB-AFC5-2368-3E61-A6F87366CF46}"/>
              </a:ext>
            </a:extLst>
          </p:cNvPr>
          <p:cNvSpPr txBox="1"/>
          <p:nvPr/>
        </p:nvSpPr>
        <p:spPr>
          <a:xfrm>
            <a:off x="1069848" y="2350008"/>
            <a:ext cx="10012680" cy="1188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4303E"/>
                </a:solidFill>
                <a:latin typeface="Aptos"/>
              </a:defRPr>
            </a:pPr>
            <a:r>
              <a:t>“Development of a multi-facet facial recognition model for institutional attendance activities during examination scenario”</a:t>
            </a:r>
            <a:br/>
            <a:br/>
            <a:r>
              <a:t>Kufre Esenowo Jack et al. • Discover Artificial Intelligence (2026) 6:746 • DOI: 10.1007/s44163-026-01474-y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B4E9D3-7221-1B95-35F4-6644EA98D224}"/>
              </a:ext>
            </a:extLst>
          </p:cNvPr>
          <p:cNvSpPr txBox="1"/>
          <p:nvPr/>
        </p:nvSpPr>
        <p:spPr>
          <a:xfrm>
            <a:off x="777240" y="406908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1F34"/>
                </a:solidFill>
                <a:latin typeface="Aptos"/>
              </a:defRPr>
            </a:pPr>
            <a:r>
              <a:t>Key evidence carried into our review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F073BB6-DD91-C4A7-46E3-03014CC54A20}"/>
              </a:ext>
            </a:extLst>
          </p:cNvPr>
          <p:cNvSpPr txBox="1"/>
          <p:nvPr/>
        </p:nvSpPr>
        <p:spPr>
          <a:xfrm>
            <a:off x="868680" y="4526280"/>
            <a:ext cx="10058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350">
                <a:solidFill>
                  <a:srgbClr val="24303E"/>
                </a:solidFill>
                <a:latin typeface="Aptos"/>
              </a:defRPr>
            </a:pPr>
            <a:r>
              <a:t>• Multi-facet conditions: lighting, head orientation and facial accessories.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350">
                <a:solidFill>
                  <a:srgbClr val="24303E"/>
                </a:solidFill>
                <a:latin typeface="Aptos"/>
              </a:defRPr>
            </a:pPr>
            <a:r>
              <a:t>• Haar Cascade + ResNet-based 128-dimensional encoding + KNN achieved strong recognition performance.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350">
                <a:solidFill>
                  <a:srgbClr val="24303E"/>
                </a:solidFill>
                <a:latin typeface="Aptos"/>
              </a:defRPr>
            </a:pPr>
            <a:r>
              <a:t>• Reported video recognition accuracy: 99.29%; overall response time approximately 6.00 s.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350">
                <a:solidFill>
                  <a:srgbClr val="24303E"/>
                </a:solidFill>
                <a:latin typeface="Aptos"/>
              </a:defRPr>
            </a:pPr>
            <a:r>
              <a:t>• Important limitation: Haar detection can fail under extreme angles / low-contrast illumination.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32470FF-6011-C4F5-16C5-48F0CCF240FB}"/>
              </a:ext>
            </a:extLst>
          </p:cNvPr>
          <p:cNvSpPr/>
          <p:nvPr/>
        </p:nvSpPr>
        <p:spPr>
          <a:xfrm>
            <a:off x="411480" y="6510528"/>
            <a:ext cx="11356848" cy="10972"/>
          </a:xfrm>
          <a:prstGeom prst="rect">
            <a:avLst/>
          </a:prstGeom>
          <a:solidFill>
            <a:srgbClr val="E1E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163BC3A-4116-827D-37BD-7F4A503BC8B1}"/>
              </a:ext>
            </a:extLst>
          </p:cNvPr>
          <p:cNvSpPr txBox="1"/>
          <p:nvPr/>
        </p:nvSpPr>
        <p:spPr>
          <a:xfrm>
            <a:off x="10835640" y="6528816"/>
            <a:ext cx="685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1F34"/>
                </a:solidFill>
                <a:latin typeface="Aptos"/>
              </a:defRPr>
            </a:pPr>
            <a: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933249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vs Proposed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F4F7F9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2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8600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roll-call / ID-card / RFID checks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83464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83464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to candidate impersonation — an ID photo can be checked visually while the bearer is an imposter.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630168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630168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verification is slow and does not scale to large exam halls.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425696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425696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/ smart-card methods are contact-based and easily shared or misused by proxies.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5221224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5221224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automatic, timestamped attendance record.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55080" y="173736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75120" y="19659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20" dirty="0">
                <a:solidFill>
                  <a:srgbClr val="9F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675120" y="228600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 recognition based attendance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283464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283464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the person's actual face, not a card — removing the impersonation loophole entirely.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675120" y="3630168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3630168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Contactless and automatic: no queues, no tokens, no manual entry.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675120" y="4425696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4425696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embeddings stay stable across lighting change, head-tilt, and accessories like glasses.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675120" y="5221224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949440" y="5221224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is logged with a timestamp the moment a match is confirmed.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 Diagram — Proposed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79476" y="2834640"/>
            <a:ext cx="1691640" cy="96012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2628" y="2907792"/>
            <a:ext cx="154533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89404" y="3232404"/>
            <a:ext cx="219456" cy="164592"/>
          </a:xfrm>
          <a:prstGeom prst="rightArrow">
            <a:avLst/>
          </a:prstGeom>
          <a:solidFill>
            <a:srgbClr val="5A6B7A"/>
          </a:solidFill>
          <a:ln/>
        </p:spPr>
      </p:sp>
      <p:sp>
        <p:nvSpPr>
          <p:cNvPr id="7" name="Shape 5"/>
          <p:cNvSpPr/>
          <p:nvPr/>
        </p:nvSpPr>
        <p:spPr>
          <a:xfrm>
            <a:off x="2327148" y="2834640"/>
            <a:ext cx="1691640" cy="96012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400300" y="2907792"/>
            <a:ext cx="154533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(Grayscale + Resize)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037076" y="3232404"/>
            <a:ext cx="219456" cy="164592"/>
          </a:xfrm>
          <a:prstGeom prst="rightArrow">
            <a:avLst/>
          </a:prstGeom>
          <a:solidFill>
            <a:srgbClr val="5A6B7A"/>
          </a:solidFill>
          <a:ln/>
        </p:spPr>
      </p:sp>
      <p:sp>
        <p:nvSpPr>
          <p:cNvPr id="10" name="Shape 8"/>
          <p:cNvSpPr/>
          <p:nvPr/>
        </p:nvSpPr>
        <p:spPr>
          <a:xfrm>
            <a:off x="4274820" y="2834640"/>
            <a:ext cx="1691640" cy="96012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347972" y="2907792"/>
            <a:ext cx="154533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Detection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(Haar Cascade)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84748" y="3232404"/>
            <a:ext cx="219456" cy="164592"/>
          </a:xfrm>
          <a:prstGeom prst="rightArrow">
            <a:avLst/>
          </a:prstGeom>
          <a:solidFill>
            <a:srgbClr val="5A6B7A"/>
          </a:solidFill>
          <a:ln/>
        </p:spPr>
      </p:sp>
      <p:sp>
        <p:nvSpPr>
          <p:cNvPr id="13" name="Shape 11"/>
          <p:cNvSpPr/>
          <p:nvPr/>
        </p:nvSpPr>
        <p:spPr>
          <a:xfrm>
            <a:off x="6222492" y="2834640"/>
            <a:ext cx="1691640" cy="96012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95644" y="2907792"/>
            <a:ext cx="154533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Encoding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(ResNet, 128-D)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32420" y="3232404"/>
            <a:ext cx="219456" cy="164592"/>
          </a:xfrm>
          <a:prstGeom prst="rightArrow">
            <a:avLst/>
          </a:prstGeom>
          <a:solidFill>
            <a:srgbClr val="5A6B7A"/>
          </a:solidFill>
          <a:ln/>
        </p:spPr>
      </p:sp>
      <p:sp>
        <p:nvSpPr>
          <p:cNvPr id="16" name="Shape 14"/>
          <p:cNvSpPr/>
          <p:nvPr/>
        </p:nvSpPr>
        <p:spPr>
          <a:xfrm>
            <a:off x="8170164" y="2834640"/>
            <a:ext cx="1691640" cy="96012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43316" y="2907792"/>
            <a:ext cx="154533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Matching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(KNN Classifier)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880092" y="3232404"/>
            <a:ext cx="219456" cy="164592"/>
          </a:xfrm>
          <a:prstGeom prst="rightArrow">
            <a:avLst/>
          </a:prstGeom>
          <a:solidFill>
            <a:srgbClr val="5A6B7A"/>
          </a:solidFill>
          <a:ln/>
        </p:spPr>
      </p:sp>
      <p:sp>
        <p:nvSpPr>
          <p:cNvPr id="19" name="Shape 17"/>
          <p:cNvSpPr/>
          <p:nvPr/>
        </p:nvSpPr>
        <p:spPr>
          <a:xfrm>
            <a:off x="10117836" y="2834640"/>
            <a:ext cx="1691640" cy="960120"/>
          </a:xfrm>
          <a:prstGeom prst="roundRect">
            <a:avLst>
              <a:gd name="adj" fmla="val 6667"/>
            </a:avLst>
          </a:prstGeom>
          <a:solidFill>
            <a:srgbClr val="02C39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190988" y="2907792"/>
            <a:ext cx="154533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Logging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(Timestamp + ID)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015984" y="3794760"/>
            <a:ext cx="0" cy="502920"/>
          </a:xfrm>
          <a:prstGeom prst="line">
            <a:avLst/>
          </a:prstGeom>
          <a:noFill/>
          <a:ln w="15875">
            <a:solidFill>
              <a:srgbClr val="5A6B7A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7575804" y="4297680"/>
            <a:ext cx="2880360" cy="685800"/>
          </a:xfrm>
          <a:prstGeom prst="roundRect">
            <a:avLst>
              <a:gd name="adj" fmla="val 9333"/>
            </a:avLst>
          </a:prstGeom>
          <a:solidFill>
            <a:srgbClr val="B0453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21524" y="429768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match →  Unknown Person Alert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Faces are detected frame-by-frame, converted into a 128-dimensional embedding, and compared against the stored student database. A confirmed match is logged automatically; an unmatched face is flagged instead of accepted.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Modules Description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4F7F9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56816"/>
            <a:ext cx="493776" cy="49377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5681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901952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Acquisition &amp; Pre-processing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709160" y="1901952"/>
            <a:ext cx="6720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frames from the camera and standardizes them — resizing and converting to grayscale to reduce noise before detection.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752344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4F7F9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926080"/>
            <a:ext cx="493776" cy="49377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29260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871216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 Detection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2871216"/>
            <a:ext cx="6720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Locates face regions in each frame using a Haar Cascade classifier, then crops the detected region for the next stage.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721608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4F7F9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895344"/>
            <a:ext cx="493776" cy="49377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8953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840480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Extraction &amp; Encoding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709160" y="3840480"/>
            <a:ext cx="6720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facial landmarks and converts the face into a 128-dimensional embedding vector using a ResNet-based model.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690872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4F7F9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864608"/>
            <a:ext cx="493776" cy="49377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8646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4809744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 Classification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709160" y="4809744"/>
            <a:ext cx="6720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the new embedding against stored student embeddings using a distance-weighted KNN classifier.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660136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4F7F9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833872"/>
            <a:ext cx="493776" cy="49377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583387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1463040" y="577900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Logging &amp; Alerting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4709160" y="5779008"/>
            <a:ext cx="6720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a confirmed match with a timestamp and student ID; flags any unmatched face under an unknown-person alert.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 Modules Output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so far: dataset collection, pre-processing, and face detection. Feature encoding and classification are in progress.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66160" cy="3291840"/>
          </a:xfrm>
          <a:prstGeom prst="roundRect">
            <a:avLst>
              <a:gd name="adj" fmla="val 1667"/>
            </a:avLst>
          </a:prstGeom>
          <a:solidFill>
            <a:srgbClr val="F4F7F9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697480"/>
            <a:ext cx="3108960" cy="2194560"/>
          </a:xfrm>
          <a:prstGeom prst="roundRect">
            <a:avLst>
              <a:gd name="adj" fmla="val 1667"/>
            </a:avLst>
          </a:prstGeom>
          <a:solidFill>
            <a:srgbClr val="E3E9EC"/>
          </a:solidFill>
          <a:ln w="12700">
            <a:solidFill>
              <a:srgbClr val="D8E1E8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777240" y="269748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PLACEHOLDER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34086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Collection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9834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screenshot: sample captured images per student]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43400" y="2194560"/>
            <a:ext cx="3566160" cy="3291840"/>
          </a:xfrm>
          <a:prstGeom prst="roundRect">
            <a:avLst>
              <a:gd name="adj" fmla="val 1667"/>
            </a:avLst>
          </a:prstGeom>
          <a:solidFill>
            <a:srgbClr val="F4F7F9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2697480"/>
            <a:ext cx="3108960" cy="2194560"/>
          </a:xfrm>
          <a:prstGeom prst="roundRect">
            <a:avLst>
              <a:gd name="adj" fmla="val 1667"/>
            </a:avLst>
          </a:prstGeom>
          <a:solidFill>
            <a:srgbClr val="E3E9EC"/>
          </a:solidFill>
          <a:ln w="12700">
            <a:solidFill>
              <a:srgbClr val="D8E1E8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4572000" y="269748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PLACEHOLDER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34086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Pre-processing Output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49834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screenshot: grayscale / resized frames]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38160" y="2194560"/>
            <a:ext cx="3566160" cy="3291840"/>
          </a:xfrm>
          <a:prstGeom prst="roundRect">
            <a:avLst>
              <a:gd name="adj" fmla="val 1667"/>
            </a:avLst>
          </a:prstGeom>
          <a:solidFill>
            <a:srgbClr val="F4F7F9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66760" y="2697480"/>
            <a:ext cx="3108960" cy="2194560"/>
          </a:xfrm>
          <a:prstGeom prst="roundRect">
            <a:avLst>
              <a:gd name="adj" fmla="val 1667"/>
            </a:avLst>
          </a:prstGeom>
          <a:solidFill>
            <a:srgbClr val="E3E9EC"/>
          </a:solidFill>
          <a:ln w="12700">
            <a:solidFill>
              <a:srgbClr val="D8E1E8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8366760" y="269748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PLACEHOLDER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234086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 Detection Output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49834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screenshot: bounding box around detected face]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4BAB90F-2F83-9408-3D48-22A07220E8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1" y="2676434"/>
            <a:ext cx="3566160" cy="280996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B782EB4-1546-219D-5478-25926FC112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399" y="2660905"/>
            <a:ext cx="3566161" cy="282549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1799D7F-C5EA-E4E0-3377-34FD609538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0236" y="2660905"/>
            <a:ext cx="3566161" cy="282549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390704A-DFDF-C60E-4415-F45062C8AED6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DE511E-8E17-DA97-3E30-CCF92BCB1B97}"/>
              </a:ext>
            </a:extLst>
          </p:cNvPr>
          <p:cNvSpPr txBox="1"/>
          <p:nvPr/>
        </p:nvSpPr>
        <p:spPr>
          <a:xfrm>
            <a:off x="731520" y="1051560"/>
            <a:ext cx="10698480" cy="12003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ptos"/>
              </a:defRPr>
            </a:pPr>
            <a:endParaRPr lang="en-US" dirty="0"/>
          </a:p>
          <a:p>
            <a:pPr algn="ctr">
              <a:defRPr sz="3600" b="1">
                <a:solidFill>
                  <a:srgbClr val="FFFFFF"/>
                </a:solidFill>
                <a:latin typeface="Aptos"/>
              </a:defRPr>
            </a:pPr>
            <a:r>
              <a:rPr dirty="0"/>
              <a:t>THANK YOU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B39C68-6850-E39D-B812-FCA5598EC996}"/>
              </a:ext>
            </a:extLst>
          </p:cNvPr>
          <p:cNvSpPr txBox="1"/>
          <p:nvPr/>
        </p:nvSpPr>
        <p:spPr>
          <a:xfrm>
            <a:off x="1828800" y="3063240"/>
            <a:ext cx="8503920" cy="86177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  <a:latin typeface="Aptos"/>
              </a:defRPr>
            </a:pPr>
            <a:r>
              <a:rPr dirty="0"/>
              <a:t>Smart Attendance System</a:t>
            </a:r>
            <a:br>
              <a:rPr dirty="0"/>
            </a:br>
            <a:r>
              <a:rPr dirty="0"/>
              <a:t>using Face Recognition </a:t>
            </a:r>
          </a:p>
        </p:txBody>
      </p:sp>
      <p:sp>
        <p:nvSpPr>
          <p:cNvPr id="9" name="Rounded Rectangle 5">
            <a:extLst>
              <a:ext uri="{FF2B5EF4-FFF2-40B4-BE49-F238E27FC236}">
                <a16:creationId xmlns:a16="http://schemas.microsoft.com/office/drawing/2014/main" id="{A0A227AF-AE4E-7FD1-8A96-2D9A49C953A6}"/>
              </a:ext>
            </a:extLst>
          </p:cNvPr>
          <p:cNvSpPr/>
          <p:nvPr/>
        </p:nvSpPr>
        <p:spPr>
          <a:xfrm>
            <a:off x="2788920" y="4709160"/>
            <a:ext cx="1828800" cy="347472"/>
          </a:xfrm>
          <a:prstGeom prst="roundRect">
            <a:avLst/>
          </a:prstGeom>
          <a:solidFill>
            <a:srgbClr val="16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86F271-AE4A-5422-5414-DA0363A46390}"/>
              </a:ext>
            </a:extLst>
          </p:cNvPr>
          <p:cNvSpPr txBox="1"/>
          <p:nvPr/>
        </p:nvSpPr>
        <p:spPr>
          <a:xfrm>
            <a:off x="2788920" y="472744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AI + COMPUTER VISION</a:t>
            </a:r>
          </a:p>
        </p:txBody>
      </p:sp>
      <p:sp>
        <p:nvSpPr>
          <p:cNvPr id="13" name="Rounded Rectangle 7">
            <a:extLst>
              <a:ext uri="{FF2B5EF4-FFF2-40B4-BE49-F238E27FC236}">
                <a16:creationId xmlns:a16="http://schemas.microsoft.com/office/drawing/2014/main" id="{A68967FD-AD36-DA0A-90A2-E8648D2B9809}"/>
              </a:ext>
            </a:extLst>
          </p:cNvPr>
          <p:cNvSpPr/>
          <p:nvPr/>
        </p:nvSpPr>
        <p:spPr>
          <a:xfrm>
            <a:off x="4800600" y="4709160"/>
            <a:ext cx="1554480" cy="347472"/>
          </a:xfrm>
          <a:prstGeom prst="roundRect">
            <a:avLst/>
          </a:prstGeom>
          <a:solidFill>
            <a:srgbClr val="23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C6D4DA-0640-27A4-57A9-1D330223D69E}"/>
              </a:ext>
            </a:extLst>
          </p:cNvPr>
          <p:cNvSpPr txBox="1"/>
          <p:nvPr/>
        </p:nvSpPr>
        <p:spPr>
          <a:xfrm>
            <a:off x="4800600" y="4727448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SECURE</a:t>
            </a:r>
          </a:p>
        </p:txBody>
      </p:sp>
      <p:sp>
        <p:nvSpPr>
          <p:cNvPr id="17" name="Rounded Rectangle 9">
            <a:extLst>
              <a:ext uri="{FF2B5EF4-FFF2-40B4-BE49-F238E27FC236}">
                <a16:creationId xmlns:a16="http://schemas.microsoft.com/office/drawing/2014/main" id="{4C92C27A-C0F9-811E-3460-85807D6C778C}"/>
              </a:ext>
            </a:extLst>
          </p:cNvPr>
          <p:cNvSpPr/>
          <p:nvPr/>
        </p:nvSpPr>
        <p:spPr>
          <a:xfrm>
            <a:off x="6537960" y="4709160"/>
            <a:ext cx="1828800" cy="347472"/>
          </a:xfrm>
          <a:prstGeom prst="roundRect">
            <a:avLst/>
          </a:prstGeom>
          <a:solidFill>
            <a:srgbClr val="188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91EF20E-E70D-104B-D60C-26B4FEDDC376}"/>
              </a:ext>
            </a:extLst>
          </p:cNvPr>
          <p:cNvSpPr txBox="1"/>
          <p:nvPr/>
        </p:nvSpPr>
        <p:spPr>
          <a:xfrm>
            <a:off x="6537960" y="472744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CONTACTLESS</a:t>
            </a:r>
          </a:p>
        </p:txBody>
      </p:sp>
    </p:spTree>
    <p:extLst>
      <p:ext uri="{BB962C8B-B14F-4D97-AF65-F5344CB8AC3E}">
        <p14:creationId xmlns:p14="http://schemas.microsoft.com/office/powerpoint/2010/main" val="2406510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1200</Words>
  <Application>Microsoft Office PowerPoint</Application>
  <PresentationFormat>Widescreen</PresentationFormat>
  <Paragraphs>172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BALA -_-</cp:lastModifiedBy>
  <cp:revision>3</cp:revision>
  <dcterms:created xsi:type="dcterms:W3CDTF">2026-09-07T06:12:32Z</dcterms:created>
  <dcterms:modified xsi:type="dcterms:W3CDTF">2026-09-07T06:34:36Z</dcterms:modified>
</cp:coreProperties>
</file>