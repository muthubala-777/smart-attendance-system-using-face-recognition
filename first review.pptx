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1" autoAdjust="0"/>
    <p:restoredTop sz="85057" autoAdjust="0"/>
  </p:normalViewPr>
  <p:slideViewPr>
    <p:cSldViewPr snapToGrid="0" snapToObjects="1">
      <p:cViewPr varScale="1">
        <p:scale>
          <a:sx n="75" d="100"/>
          <a:sy n="75" d="100"/>
        </p:scale>
        <p:origin x="74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9875520" y="182880"/>
            <a:ext cx="2286000" cy="2286000"/>
          </a:xfrm>
          <a:prstGeom prst="ellipse">
            <a:avLst/>
          </a:prstGeom>
          <a:solidFill>
            <a:srgbClr val="1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98480" y="1005840"/>
            <a:ext cx="1463040" cy="1463040"/>
          </a:xfrm>
          <a:prstGeom prst="ellipse">
            <a:avLst/>
          </a:prstGeom>
          <a:solidFill>
            <a:srgbClr val="23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418320" y="5212080"/>
            <a:ext cx="2834640" cy="2834640"/>
          </a:xfrm>
          <a:prstGeom prst="ellipse">
            <a:avLst/>
          </a:prstGeom>
          <a:solidFill>
            <a:srgbClr val="188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886968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rPr dirty="0"/>
              <a:t>SMART ATTENDANCE SYSTEM</a:t>
            </a:r>
            <a:br>
              <a:rPr dirty="0"/>
            </a:br>
            <a:r>
              <a:rPr dirty="0"/>
              <a:t>USING FACE RECOGNITION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69080"/>
            <a:ext cx="1645920" cy="347472"/>
          </a:xfrm>
          <a:prstGeom prst="roundRect">
            <a:avLst/>
          </a:prstGeom>
          <a:solidFill>
            <a:srgbClr val="1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408736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AI + COMPUTER VISION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4069080"/>
            <a:ext cx="1508760" cy="347472"/>
          </a:xfrm>
          <a:prstGeom prst="roundRect">
            <a:avLst/>
          </a:prstGeom>
          <a:solidFill>
            <a:srgbClr val="23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14600" y="4087368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BIOMETRICS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4069080"/>
            <a:ext cx="1508760" cy="347472"/>
          </a:xfrm>
          <a:prstGeom prst="roundRect">
            <a:avLst/>
          </a:prstGeom>
          <a:solidFill>
            <a:srgbClr val="188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60520" y="4087368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WEB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74920"/>
            <a:ext cx="5029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rPr dirty="0"/>
              <a:t>Guide Name : </a:t>
            </a:r>
            <a:r>
              <a:rPr lang="en-US" dirty="0"/>
              <a:t> </a:t>
            </a:r>
            <a:r>
              <a:rPr lang="en-US" dirty="0" err="1"/>
              <a:t>Mrs</a:t>
            </a:r>
            <a:r>
              <a:rPr lang="en-US" dirty="0"/>
              <a:t>  </a:t>
            </a:r>
            <a:r>
              <a:rPr lang="en-US" dirty="0" err="1"/>
              <a:t>V.Devi</a:t>
            </a:r>
            <a:r>
              <a:rPr lang="en-US" dirty="0"/>
              <a:t> Nandhini 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731520" y="5440680"/>
            <a:ext cx="5669280" cy="10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rPr dirty="0"/>
              <a:t>Team Members : </a:t>
            </a:r>
            <a:endParaRPr lang="en-US" dirty="0"/>
          </a:p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A.Kannan-951923090</a:t>
            </a:r>
            <a:endParaRPr lang="en-US" dirty="0"/>
          </a:p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rPr lang="en-US" dirty="0" err="1"/>
              <a:t>R.Muthu</a:t>
            </a:r>
            <a:r>
              <a:rPr lang="en-US" dirty="0"/>
              <a:t> Bala-95192309028</a:t>
            </a:r>
          </a:p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M.Santhosh-95192309044</a:t>
            </a:r>
          </a:p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K.Akash-95192309701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1. Project Title &amp; Domain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109728"/>
            <a:ext cx="187451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EDCEB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88136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F1F34"/>
                </a:solidFill>
                <a:latin typeface="Aptos"/>
              </a:defRPr>
            </a:pPr>
            <a:r>
              <a:rPr dirty="0"/>
              <a:t>Smart Attendance System using Face Recognition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606D7C"/>
                </a:solidFill>
                <a:latin typeface="Aptos"/>
              </a:defRPr>
            </a:pPr>
            <a:r>
              <a:t>A secure, contactless and automated attendance platform for educational institutions.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6032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560320"/>
            <a:ext cx="64008" cy="2240280"/>
          </a:xfrm>
          <a:prstGeom prst="rect">
            <a:avLst/>
          </a:prstGeom>
          <a:solidFill>
            <a:srgbClr val="1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2706624"/>
            <a:ext cx="31272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F34"/>
                </a:solidFill>
                <a:latin typeface="Aptos"/>
              </a:defRPr>
            </a:pPr>
            <a:r>
              <a:t>DOMAIN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127248"/>
            <a:ext cx="3108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4303E"/>
                </a:solidFill>
                <a:latin typeface="Aptos"/>
              </a:defRPr>
            </a:pPr>
            <a:r>
              <a:t>Artificial Intelligence &amp; Data Science</a:t>
            </a:r>
            <a:br/>
            <a:br/>
            <a:r>
              <a:t>Computer Vision • Facial Biometrics</a:t>
            </a:r>
            <a:br/>
            <a:r>
              <a:t>Machine Learning • Web Applications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256032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0832" y="2560320"/>
            <a:ext cx="64008" cy="2240280"/>
          </a:xfrm>
          <a:prstGeom prst="rect">
            <a:avLst/>
          </a:prstGeom>
          <a:solidFill>
            <a:srgbClr val="23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2706624"/>
            <a:ext cx="31272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F34"/>
                </a:solidFill>
                <a:latin typeface="Aptos"/>
              </a:defRPr>
            </a:pPr>
            <a:r>
              <a:t>CORE TECHNOLOGIES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127248"/>
            <a:ext cx="3108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4303E"/>
                </a:solidFill>
                <a:latin typeface="Aptos"/>
              </a:defRPr>
            </a:pPr>
            <a:r>
              <a:t>Python • OpenCV</a:t>
            </a:r>
            <a:br/>
            <a:r>
              <a:t>Face Recognition / FaceNet</a:t>
            </a:r>
            <a:br/>
            <a:r>
              <a:t>QR Code • CNN Liveness</a:t>
            </a:r>
            <a:br/>
            <a:r>
              <a:t>Flask / Firebase / MySQL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256032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01583" y="2560320"/>
            <a:ext cx="64008" cy="2240280"/>
          </a:xfrm>
          <a:prstGeom prst="rect">
            <a:avLst/>
          </a:prstGeom>
          <a:solidFill>
            <a:srgbClr val="188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2706624"/>
            <a:ext cx="30815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F34"/>
                </a:solidFill>
                <a:latin typeface="Aptos"/>
              </a:defRPr>
            </a:pPr>
            <a:r>
              <a:t>APPLICATION AREA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3127248"/>
            <a:ext cx="3063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4303E"/>
                </a:solidFill>
                <a:latin typeface="Aptos"/>
              </a:defRPr>
            </a:pPr>
            <a:r>
              <a:t>College attendance</a:t>
            </a:r>
            <a:br/>
            <a:r>
              <a:t>Subject-wise sessions</a:t>
            </a:r>
            <a:br/>
            <a:r>
              <a:t>Admin monitoring</a:t>
            </a:r>
            <a:br/>
            <a:r>
              <a:t>PDF / Excel reporting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21208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4303E"/>
                </a:solidFill>
                <a:latin typeface="Aptos"/>
              </a:defRPr>
            </a:pPr>
            <a:r>
              <a:rPr dirty="0"/>
              <a:t>Project direction: combine session authorization (QR) with identity verification (face) to reduce proxy attendance.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6510528"/>
            <a:ext cx="11356848" cy="10972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835640" y="6528816"/>
            <a:ext cx="685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1F34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2. 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109728"/>
            <a:ext cx="187451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EDCEB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841248"/>
            <a:ext cx="1417320" cy="347472"/>
          </a:xfrm>
          <a:prstGeom prst="roundRect">
            <a:avLst/>
          </a:prstGeom>
          <a:solidFill>
            <a:srgbClr val="188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859536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61872"/>
            <a:ext cx="52578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4303E"/>
                </a:solidFill>
                <a:latin typeface="Aptos"/>
              </a:defRPr>
            </a:pPr>
            <a:r>
              <a:t>Manual attendance is time-consuming, difficult to audit and vulnerable to proxy attendance. Single-factor methods can also create usability or security limitations.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841248"/>
            <a:ext cx="1417320" cy="347472"/>
          </a:xfrm>
          <a:prstGeom prst="roundRect">
            <a:avLst/>
          </a:prstGeom>
          <a:solidFill>
            <a:srgbClr val="188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44768" y="859536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44768" y="1261872"/>
            <a:ext cx="53492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4303E"/>
                </a:solidFill>
                <a:latin typeface="Aptos"/>
              </a:defRPr>
            </a:pPr>
            <a:r>
              <a:t>The proposed system uses a QR code to authorize the active attendance session and face recognition to verify the student before recording attendance.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71800"/>
            <a:ext cx="1417320" cy="347472"/>
          </a:xfrm>
          <a:prstGeom prst="roundRect">
            <a:avLst/>
          </a:prstGeom>
          <a:solidFill>
            <a:srgbClr val="188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299008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401568"/>
            <a:ext cx="52578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4303E"/>
                </a:solidFill>
                <a:latin typeface="Aptos"/>
              </a:defRPr>
            </a:pPr>
            <a:r>
              <a:t>OpenCV performs face detection; facial embeddings support recognition; CNN-based liveness checks help distinguish a live student from a presentation/spoof attempt.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2971800"/>
            <a:ext cx="1417320" cy="347472"/>
          </a:xfrm>
          <a:prstGeom prst="roundRect">
            <a:avLst/>
          </a:prstGeom>
          <a:solidFill>
            <a:srgbClr val="188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44768" y="299008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3401568"/>
            <a:ext cx="53492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4303E"/>
                </a:solidFill>
                <a:latin typeface="Aptos"/>
              </a:defRPr>
            </a:pPr>
            <a:r>
              <a:t>Verified attendance is stored with student ID, subject/session and timestamp. Admins can view analytics and export reports.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138928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0F1F34"/>
                </a:solidFill>
                <a:latin typeface="Aptos"/>
              </a:defRPr>
            </a:pPr>
            <a:r>
              <a:t>Expected outcome: FAST + SECURE + CONTACTLESS + AUDITABLE ATTENDANCE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6510528"/>
            <a:ext cx="11356848" cy="10972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835640" y="6528816"/>
            <a:ext cx="685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1F34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3.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109728"/>
            <a:ext cx="187451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EDCEB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960120"/>
            <a:ext cx="502920" cy="502920"/>
          </a:xfrm>
          <a:prstGeom prst="ellipse">
            <a:avLst/>
          </a:prstGeom>
          <a:solidFill>
            <a:srgbClr val="1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033272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9032" y="941832"/>
            <a:ext cx="4617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4303E"/>
                </a:solidFill>
                <a:latin typeface="Aptos"/>
              </a:defRPr>
            </a:pPr>
            <a:r>
              <a:t>Automate attendance marking with minimal manual intervention.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960120"/>
            <a:ext cx="502920" cy="502920"/>
          </a:xfrm>
          <a:prstGeom prst="ellipse">
            <a:avLst/>
          </a:prstGeom>
          <a:solidFill>
            <a:srgbClr val="23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0" y="1033272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1152" y="941832"/>
            <a:ext cx="4617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4303E"/>
                </a:solidFill>
                <a:latin typeface="Aptos"/>
              </a:defRPr>
            </a:pPr>
            <a:r>
              <a:t>Verify the correct student using face recognition.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468880"/>
            <a:ext cx="502920" cy="502920"/>
          </a:xfrm>
          <a:prstGeom prst="ellipse">
            <a:avLst/>
          </a:prstGeom>
          <a:solidFill>
            <a:srgbClr val="188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542032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2" y="2450592"/>
            <a:ext cx="4617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4303E"/>
                </a:solidFill>
                <a:latin typeface="Aptos"/>
              </a:defRPr>
            </a:pPr>
            <a:r>
              <a:rPr dirty="0"/>
              <a:t>Use QR-based session authorization to prevent attendance outside the active session.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2468880"/>
            <a:ext cx="502920" cy="502920"/>
          </a:xfrm>
          <a:prstGeom prst="ellipse">
            <a:avLst/>
          </a:prstGeom>
          <a:solidFill>
            <a:srgbClr val="E0A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2542032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2450592"/>
            <a:ext cx="4617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4303E"/>
                </a:solidFill>
                <a:latin typeface="Aptos"/>
              </a:defRPr>
            </a:pPr>
            <a:r>
              <a:t>Add liveness verification as an anti-spoofing layer.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3977639"/>
            <a:ext cx="502920" cy="502920"/>
          </a:xfrm>
          <a:prstGeom prst="ellipse">
            <a:avLst/>
          </a:prstGeom>
          <a:solidFill>
            <a:srgbClr val="1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050791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959352"/>
            <a:ext cx="4617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4303E"/>
                </a:solidFill>
                <a:latin typeface="Aptos"/>
              </a:defRPr>
            </a:pPr>
            <a:r>
              <a:t>Store attendance records with timestamp and subject/session details.</a:t>
            </a:r>
          </a:p>
        </p:txBody>
      </p:sp>
      <p:sp>
        <p:nvSpPr>
          <p:cNvPr id="21" name="Oval 20"/>
          <p:cNvSpPr/>
          <p:nvPr/>
        </p:nvSpPr>
        <p:spPr>
          <a:xfrm>
            <a:off x="6217920" y="3977639"/>
            <a:ext cx="502920" cy="502920"/>
          </a:xfrm>
          <a:prstGeom prst="ellipse">
            <a:avLst/>
          </a:prstGeom>
          <a:solidFill>
            <a:srgbClr val="23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4050791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3959352"/>
            <a:ext cx="4617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4303E"/>
                </a:solidFill>
                <a:latin typeface="Aptos"/>
              </a:defRPr>
            </a:pPr>
            <a:r>
              <a:t>Provide an admin dashboard for monitoring, analytics and report generation.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" y="5596128"/>
            <a:ext cx="9692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234440" y="5596128"/>
            <a:ext cx="64008" cy="621792"/>
          </a:xfrm>
          <a:prstGeom prst="rect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35608" y="5742432"/>
            <a:ext cx="9345167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F1F34"/>
                </a:solidFill>
                <a:latin typeface="Aptos"/>
              </a:defRPr>
            </a:pPr>
            <a:r>
              <a:t>PROJECT GOAL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6510528"/>
            <a:ext cx="11356848" cy="10972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835640" y="6528816"/>
            <a:ext cx="685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1F34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4. Literature 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109728"/>
            <a:ext cx="187451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EDCEB"/>
                </a:solidFill>
                <a:latin typeface="Aptos"/>
              </a:defRPr>
            </a:pPr>
            <a:r>
              <a:t>RESEARCH BASIS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932688"/>
            <a:ext cx="594360" cy="502920"/>
          </a:xfrm>
          <a:prstGeom prst="rect">
            <a:avLst/>
          </a:prstGeom>
          <a:solidFill>
            <a:srgbClr val="0F1F3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100584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Year</a:t>
            </a:r>
          </a:p>
        </p:txBody>
      </p:sp>
      <p:sp>
        <p:nvSpPr>
          <p:cNvPr id="8" name="Rectangle 7"/>
          <p:cNvSpPr/>
          <p:nvPr/>
        </p:nvSpPr>
        <p:spPr>
          <a:xfrm>
            <a:off x="1124712" y="932688"/>
            <a:ext cx="1600200" cy="502920"/>
          </a:xfrm>
          <a:prstGeom prst="rect">
            <a:avLst/>
          </a:prstGeom>
          <a:solidFill>
            <a:srgbClr val="0F1F3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0432" y="1005840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Study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24912" y="932688"/>
            <a:ext cx="2788920" cy="502920"/>
          </a:xfrm>
          <a:prstGeom prst="rect">
            <a:avLst/>
          </a:prstGeom>
          <a:solidFill>
            <a:srgbClr val="0F1F3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70632" y="1005840"/>
            <a:ext cx="26974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Approach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13831" y="932688"/>
            <a:ext cx="6172200" cy="502920"/>
          </a:xfrm>
          <a:prstGeom prst="rect">
            <a:avLst/>
          </a:prstGeom>
          <a:solidFill>
            <a:srgbClr val="0F1F3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59551" y="1005840"/>
            <a:ext cx="6080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Key observation / limitation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1435608"/>
            <a:ext cx="713232" cy="667512"/>
          </a:xfrm>
          <a:prstGeom prst="rect">
            <a:avLst/>
          </a:prstGeom>
          <a:solidFill>
            <a:srgbClr val="FFFFFF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1508760"/>
            <a:ext cx="557783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03E"/>
                </a:solidFill>
                <a:latin typeface="Aptos"/>
              </a:defRPr>
            </a:pPr>
            <a:r>
              <a:rPr lang="en-IN" dirty="0"/>
              <a:t>2021</a:t>
            </a:r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1124712" y="1435608"/>
            <a:ext cx="1600200" cy="667512"/>
          </a:xfrm>
          <a:prstGeom prst="rect">
            <a:avLst/>
          </a:prstGeom>
          <a:solidFill>
            <a:srgbClr val="FFFFFF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1508760"/>
            <a:ext cx="1472184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24303E"/>
                </a:solidFill>
                <a:latin typeface="Aptos"/>
              </a:defRPr>
            </a:pPr>
            <a:r>
              <a:t>Bairagi et 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24912" y="1435608"/>
            <a:ext cx="2788920" cy="667512"/>
          </a:xfrm>
          <a:prstGeom prst="rect">
            <a:avLst/>
          </a:prstGeom>
          <a:solidFill>
            <a:srgbClr val="FFFFFF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88920" y="1508760"/>
            <a:ext cx="2660903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03E"/>
                </a:solidFill>
                <a:latin typeface="Aptos"/>
              </a:defRPr>
            </a:pPr>
            <a:r>
              <a:t>Haar Cascade + face recognition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13831" y="1435608"/>
            <a:ext cx="6172200" cy="667512"/>
          </a:xfrm>
          <a:prstGeom prst="rect">
            <a:avLst/>
          </a:prstGeom>
          <a:solidFill>
            <a:srgbClr val="FFFFFF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77840" y="1508760"/>
            <a:ext cx="6044184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03E"/>
                </a:solidFill>
                <a:latin typeface="Aptos"/>
              </a:defRPr>
            </a:pPr>
            <a:r>
              <a:t>Low-cost and fast; sensitive to uneven lighting and occlusion.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103120"/>
            <a:ext cx="713232" cy="667512"/>
          </a:xfrm>
          <a:prstGeom prst="rect">
            <a:avLst/>
          </a:prstGeom>
          <a:solidFill>
            <a:srgbClr val="EDF3F9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2176272"/>
            <a:ext cx="649223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03E"/>
                </a:solidFill>
                <a:latin typeface="Aptos"/>
              </a:defRPr>
            </a:pPr>
            <a:r>
              <a:rPr lang="en-IN" dirty="0"/>
              <a:t>  </a:t>
            </a:r>
            <a:r>
              <a:rPr dirty="0"/>
              <a:t>2022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24712" y="2103120"/>
            <a:ext cx="1600200" cy="667512"/>
          </a:xfrm>
          <a:prstGeom prst="rect">
            <a:avLst/>
          </a:prstGeom>
          <a:solidFill>
            <a:srgbClr val="EDF3F9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88720" y="2176272"/>
            <a:ext cx="1472184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24303E"/>
                </a:solidFill>
                <a:latin typeface="Aptos"/>
              </a:defRPr>
            </a:pPr>
            <a:r>
              <a:t>Trivedi et 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24912" y="2103120"/>
            <a:ext cx="2788920" cy="667512"/>
          </a:xfrm>
          <a:prstGeom prst="rect">
            <a:avLst/>
          </a:prstGeom>
          <a:solidFill>
            <a:srgbClr val="EDF3F9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88920" y="2176272"/>
            <a:ext cx="2660903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03E"/>
                </a:solidFill>
                <a:latin typeface="Aptos"/>
              </a:defRPr>
            </a:pPr>
            <a:r>
              <a:t>Face recognition attendance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13831" y="2103120"/>
            <a:ext cx="6172200" cy="667512"/>
          </a:xfrm>
          <a:prstGeom prst="rect">
            <a:avLst/>
          </a:prstGeom>
          <a:solidFill>
            <a:srgbClr val="EDF3F9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577840" y="2176272"/>
            <a:ext cx="6044184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03E"/>
                </a:solidFill>
                <a:latin typeface="Aptos"/>
              </a:defRPr>
            </a:pPr>
            <a:r>
              <a:t>Automates logging; strict alignment can affect robustness.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79" y="2770632"/>
            <a:ext cx="713233" cy="667512"/>
          </a:xfrm>
          <a:prstGeom prst="rect">
            <a:avLst/>
          </a:prstGeom>
          <a:solidFill>
            <a:srgbClr val="FFFFFF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" y="2843784"/>
            <a:ext cx="649223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03E"/>
                </a:solidFill>
                <a:latin typeface="Aptos"/>
              </a:defRPr>
            </a:pPr>
            <a:r>
              <a:rPr lang="en-IN" dirty="0"/>
              <a:t>  </a:t>
            </a:r>
            <a:r>
              <a:rPr dirty="0"/>
              <a:t>2023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24712" y="2770632"/>
            <a:ext cx="1600200" cy="667512"/>
          </a:xfrm>
          <a:prstGeom prst="rect">
            <a:avLst/>
          </a:prstGeom>
          <a:solidFill>
            <a:srgbClr val="FFFFFF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88720" y="2843784"/>
            <a:ext cx="1472184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24303E"/>
                </a:solidFill>
                <a:latin typeface="Aptos"/>
              </a:defRPr>
            </a:pPr>
            <a:r>
              <a:t>Kamil et al.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24912" y="2770632"/>
            <a:ext cx="2788920" cy="667512"/>
          </a:xfrm>
          <a:prstGeom prst="rect">
            <a:avLst/>
          </a:prstGeom>
          <a:solidFill>
            <a:srgbClr val="FFFFFF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88920" y="2843784"/>
            <a:ext cx="2660903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03E"/>
                </a:solidFill>
                <a:latin typeface="Aptos"/>
              </a:defRPr>
            </a:pPr>
            <a:r>
              <a:t>Face recognition + mask detection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13831" y="2770632"/>
            <a:ext cx="6172200" cy="667512"/>
          </a:xfrm>
          <a:prstGeom prst="rect">
            <a:avLst/>
          </a:prstGeom>
          <a:solidFill>
            <a:srgbClr val="FFFFFF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577840" y="2843784"/>
            <a:ext cx="6044184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03E"/>
                </a:solidFill>
                <a:latin typeface="Aptos"/>
              </a:defRPr>
            </a:pPr>
            <a:r>
              <a:t>Useful for isolated occlusion; broader variation remains challenging.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3438144"/>
            <a:ext cx="713232" cy="667512"/>
          </a:xfrm>
          <a:prstGeom prst="rect">
            <a:avLst/>
          </a:prstGeom>
          <a:solidFill>
            <a:srgbClr val="EDF3F9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75489" y="3511296"/>
            <a:ext cx="585214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03E"/>
                </a:solidFill>
                <a:latin typeface="Aptos"/>
              </a:defRPr>
            </a:pPr>
            <a:r>
              <a:rPr dirty="0"/>
              <a:t>2023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24712" y="3438144"/>
            <a:ext cx="1600200" cy="667512"/>
          </a:xfrm>
          <a:prstGeom prst="rect">
            <a:avLst/>
          </a:prstGeom>
          <a:solidFill>
            <a:srgbClr val="EDF3F9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188720" y="3511296"/>
            <a:ext cx="1472184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24303E"/>
                </a:solidFill>
                <a:latin typeface="Aptos"/>
              </a:defRPr>
            </a:pPr>
            <a:r>
              <a:t>Lateef &amp; Kamil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24912" y="3438144"/>
            <a:ext cx="2788920" cy="667512"/>
          </a:xfrm>
          <a:prstGeom prst="rect">
            <a:avLst/>
          </a:prstGeom>
          <a:solidFill>
            <a:srgbClr val="EDF3F9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88920" y="3511296"/>
            <a:ext cx="2660903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03E"/>
                </a:solidFill>
                <a:latin typeface="Aptos"/>
              </a:defRPr>
            </a:pPr>
            <a:r>
              <a:t>YOLO-based live attendance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13831" y="3438144"/>
            <a:ext cx="6172200" cy="667512"/>
          </a:xfrm>
          <a:prstGeom prst="rect">
            <a:avLst/>
          </a:prstGeom>
          <a:solidFill>
            <a:srgbClr val="EDF3F9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577840" y="3511296"/>
            <a:ext cx="6044184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03E"/>
                </a:solidFill>
                <a:latin typeface="Aptos"/>
              </a:defRPr>
            </a:pPr>
            <a:r>
              <a:t>Supports live camera processing; heavier computation can add delay.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4105656"/>
            <a:ext cx="713232" cy="667512"/>
          </a:xfrm>
          <a:prstGeom prst="rect">
            <a:avLst/>
          </a:prstGeom>
          <a:solidFill>
            <a:srgbClr val="FFFFFF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1480" y="4178808"/>
            <a:ext cx="649223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03E"/>
                </a:solidFill>
                <a:latin typeface="Aptos"/>
              </a:defRPr>
            </a:pPr>
            <a:r>
              <a:rPr lang="en-IN" dirty="0"/>
              <a:t>  </a:t>
            </a:r>
            <a:r>
              <a:rPr dirty="0"/>
              <a:t>2025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24712" y="4105656"/>
            <a:ext cx="1600200" cy="667512"/>
          </a:xfrm>
          <a:prstGeom prst="rect">
            <a:avLst/>
          </a:prstGeom>
          <a:solidFill>
            <a:srgbClr val="FFFFFF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188720" y="4178808"/>
            <a:ext cx="1472184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24303E"/>
                </a:solidFill>
                <a:latin typeface="Aptos"/>
              </a:defRPr>
            </a:pPr>
            <a:r>
              <a:t>Afiyanto et al.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24912" y="4105656"/>
            <a:ext cx="2788920" cy="667512"/>
          </a:xfrm>
          <a:prstGeom prst="rect">
            <a:avLst/>
          </a:prstGeom>
          <a:solidFill>
            <a:srgbClr val="FFFFFF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788920" y="4178808"/>
            <a:ext cx="2660903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03E"/>
                </a:solidFill>
                <a:latin typeface="Aptos"/>
              </a:defRPr>
            </a:pPr>
            <a:r>
              <a:t>Face recognition under varying lighting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13831" y="4105656"/>
            <a:ext cx="6172200" cy="667512"/>
          </a:xfrm>
          <a:prstGeom prst="rect">
            <a:avLst/>
          </a:prstGeom>
          <a:solidFill>
            <a:srgbClr val="FFFFFF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577840" y="4178808"/>
            <a:ext cx="6044184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03E"/>
                </a:solidFill>
                <a:latin typeface="Aptos"/>
              </a:defRPr>
            </a:pPr>
            <a:r>
              <a:t>Uneven illumination can significantly reduce recognition reliability.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4773168"/>
            <a:ext cx="713232" cy="667512"/>
          </a:xfrm>
          <a:prstGeom prst="rect">
            <a:avLst/>
          </a:prstGeom>
          <a:solidFill>
            <a:srgbClr val="EDF3F9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75489" y="4846320"/>
            <a:ext cx="585214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03E"/>
                </a:solidFill>
                <a:latin typeface="Aptos"/>
              </a:defRPr>
            </a:pPr>
            <a:r>
              <a:rPr dirty="0"/>
              <a:t>2026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24712" y="4773168"/>
            <a:ext cx="1600200" cy="667512"/>
          </a:xfrm>
          <a:prstGeom prst="rect">
            <a:avLst/>
          </a:prstGeom>
          <a:solidFill>
            <a:srgbClr val="EDF3F9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188720" y="4846320"/>
            <a:ext cx="1472184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24303E"/>
                </a:solidFill>
                <a:latin typeface="Aptos"/>
              </a:defRPr>
            </a:pPr>
            <a:r>
              <a:t>Jack et al.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24912" y="4773168"/>
            <a:ext cx="2788920" cy="667512"/>
          </a:xfrm>
          <a:prstGeom prst="rect">
            <a:avLst/>
          </a:prstGeom>
          <a:solidFill>
            <a:srgbClr val="EDF3F9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788920" y="4846320"/>
            <a:ext cx="2660903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03E"/>
                </a:solidFill>
                <a:latin typeface="Aptos"/>
              </a:defRPr>
            </a:pPr>
            <a:r>
              <a:t>Haar + ResNet-128D + KNN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13831" y="4773168"/>
            <a:ext cx="6172200" cy="667512"/>
          </a:xfrm>
          <a:prstGeom prst="rect">
            <a:avLst/>
          </a:prstGeom>
          <a:solidFill>
            <a:srgbClr val="EDF3F9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577840" y="4846320"/>
            <a:ext cx="6044184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303E"/>
                </a:solidFill>
                <a:latin typeface="Aptos"/>
              </a:defRPr>
            </a:pPr>
            <a:r>
              <a:t>Robust to lighting/pose/accessories; detector failures and ~6 s latency remain concerns.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59893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0F1F34"/>
                </a:solidFill>
                <a:latin typeface="Aptos"/>
              </a:defRPr>
            </a:pPr>
            <a:r>
              <a:rPr dirty="0"/>
              <a:t>Literature evidence shows a clear need for robustness across multiple conditions while keeping the system practical for real-time institutional use.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6510528"/>
            <a:ext cx="11356848" cy="10972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835640" y="6528816"/>
            <a:ext cx="685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1F34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5. Summary of Literature 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109728"/>
            <a:ext cx="187451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EDCEB"/>
                </a:solidFill>
                <a:latin typeface="Aptos"/>
              </a:defRPr>
            </a:pPr>
            <a:r>
              <a:t>RESEARCH GAP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64008" cy="1828800"/>
          </a:xfrm>
          <a:prstGeom prst="rect">
            <a:avLst/>
          </a:prstGeom>
          <a:solidFill>
            <a:srgbClr val="1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060704"/>
            <a:ext cx="30815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F34"/>
                </a:solidFill>
                <a:latin typeface="Aptos"/>
              </a:defRPr>
            </a:pPr>
            <a:r>
              <a:t>WHAT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481328"/>
            <a:ext cx="30632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4303E"/>
                </a:solidFill>
                <a:latin typeface="Aptos"/>
              </a:defRPr>
            </a:pPr>
            <a:r>
              <a:t>Traditional Haar/LBPH systems are computationally inexpensive and suitable for basic attendance automation.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91440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914400"/>
            <a:ext cx="64008" cy="1828800"/>
          </a:xfrm>
          <a:prstGeom prst="rect">
            <a:avLst/>
          </a:prstGeom>
          <a:solidFill>
            <a:srgbClr val="23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060704"/>
            <a:ext cx="30815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F34"/>
                </a:solidFill>
                <a:latin typeface="Aptos"/>
              </a:defRPr>
            </a:pPr>
            <a:r>
              <a:t>WHAT IMPROVES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481328"/>
            <a:ext cx="30632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4303E"/>
                </a:solidFill>
                <a:latin typeface="Aptos"/>
              </a:defRPr>
            </a:pPr>
            <a:r>
              <a:t>Deep embeddings such as ResNet-based representations handle appearance variation better than raw pixel matching.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91440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914400"/>
            <a:ext cx="64008" cy="1828800"/>
          </a:xfrm>
          <a:prstGeom prst="rect">
            <a:avLst/>
          </a:prstGeom>
          <a:solidFill>
            <a:srgbClr val="188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9328" y="1060704"/>
            <a:ext cx="30358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F34"/>
                </a:solidFill>
                <a:latin typeface="Aptos"/>
              </a:defRPr>
            </a:pPr>
            <a:r>
              <a:t>WHAT REMAINS HARD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1481328"/>
            <a:ext cx="30175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4303E"/>
                </a:solidFill>
                <a:latin typeface="Aptos"/>
              </a:defRPr>
            </a:pPr>
            <a:r>
              <a:t>Lighting, head pose, accessories, spoofing and real-time latency can still affect practical deployment.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1546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F34"/>
                </a:solidFill>
                <a:latin typeface="Aptos"/>
              </a:defRPr>
            </a:pPr>
            <a:r>
              <a:t>RESEARCH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584448"/>
            <a:ext cx="52578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400">
                <a:solidFill>
                  <a:srgbClr val="24303E"/>
                </a:solidFill>
                <a:latin typeface="Aptos"/>
              </a:defRPr>
            </a:pPr>
            <a:r>
              <a:t>• Many solutions address only one variation at a time.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400">
                <a:solidFill>
                  <a:srgbClr val="24303E"/>
                </a:solidFill>
                <a:latin typeface="Aptos"/>
              </a:defRPr>
            </a:pPr>
            <a:r>
              <a:t>• Heavy deep-learning pipelines can increase computational cost.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400">
                <a:solidFill>
                  <a:srgbClr val="24303E"/>
                </a:solidFill>
                <a:latin typeface="Aptos"/>
              </a:defRPr>
            </a:pPr>
            <a:r>
              <a:t>• Face verification alone does not authorize the attendance session.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400">
                <a:solidFill>
                  <a:srgbClr val="24303E"/>
                </a:solidFill>
                <a:latin typeface="Aptos"/>
              </a:defRPr>
            </a:pPr>
            <a:r>
              <a:t>• Static face matching is vulnerable to photo/video presentation attacks.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15468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F34"/>
                </a:solidFill>
                <a:latin typeface="Aptos"/>
              </a:defRPr>
            </a:pPr>
            <a:r>
              <a:t>OUR PROJECT 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3584448"/>
            <a:ext cx="51663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400">
                <a:solidFill>
                  <a:srgbClr val="24303E"/>
                </a:solidFill>
                <a:latin typeface="Aptos"/>
              </a:defRPr>
            </a:pPr>
            <a:r>
              <a:t>• QR code → active session authorization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400">
                <a:solidFill>
                  <a:srgbClr val="24303E"/>
                </a:solidFill>
                <a:latin typeface="Aptos"/>
              </a:defRPr>
            </a:pPr>
            <a:r>
              <a:t>• Face recognition → student identity verification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400">
                <a:solidFill>
                  <a:srgbClr val="24303E"/>
                </a:solidFill>
                <a:latin typeface="Aptos"/>
              </a:defRPr>
            </a:pPr>
            <a:r>
              <a:t>• CNN liveness → anti-spoofing layer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400">
                <a:solidFill>
                  <a:srgbClr val="24303E"/>
                </a:solidFill>
                <a:latin typeface="Aptos"/>
              </a:defRPr>
            </a:pPr>
            <a:r>
              <a:t>• Database + dashboard → auditable attendance records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6510528"/>
            <a:ext cx="11356848" cy="10972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835640" y="6528816"/>
            <a:ext cx="685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1F34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6. Existing vs 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109728"/>
            <a:ext cx="187451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EDCEB"/>
                </a:solidFill>
                <a:latin typeface="Aptos"/>
              </a:defRPr>
            </a:pPr>
            <a:r>
              <a:t>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1508760" cy="475488"/>
          </a:xfrm>
          <a:prstGeom prst="rect">
            <a:avLst/>
          </a:prstGeom>
          <a:solidFill>
            <a:srgbClr val="0F1F3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" y="987552"/>
            <a:ext cx="139903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Aspect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148839" y="914400"/>
            <a:ext cx="4663440" cy="475488"/>
          </a:xfrm>
          <a:prstGeom prst="rect">
            <a:avLst/>
          </a:prstGeom>
          <a:solidFill>
            <a:srgbClr val="0F1F3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03703" y="987552"/>
            <a:ext cx="45537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Existing / Conventional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12279" y="914400"/>
            <a:ext cx="4709160" cy="475488"/>
          </a:xfrm>
          <a:prstGeom prst="rect">
            <a:avLst/>
          </a:prstGeom>
          <a:solidFill>
            <a:srgbClr val="0F1F3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67143" y="987552"/>
            <a:ext cx="459943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Proposed 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389888"/>
            <a:ext cx="15087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1" y="1472184"/>
            <a:ext cx="1362456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4303E"/>
                </a:solidFill>
                <a:latin typeface="Aptos"/>
              </a:defRPr>
            </a:pPr>
            <a:r>
              <a:t>Attendance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39" y="1389888"/>
            <a:ext cx="4663440" cy="603504"/>
          </a:xfrm>
          <a:prstGeom prst="rect">
            <a:avLst/>
          </a:prstGeom>
          <a:solidFill>
            <a:srgbClr val="FFFFFF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21991" y="1472184"/>
            <a:ext cx="4517136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303E"/>
                </a:solidFill>
                <a:latin typeface="Aptos"/>
              </a:defRPr>
            </a:pPr>
            <a:r>
              <a:t>Manual roll call / single-factor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12279" y="1389888"/>
            <a:ext cx="47091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85431" y="1472184"/>
            <a:ext cx="4562856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F1F34"/>
                </a:solidFill>
                <a:latin typeface="Aptos"/>
              </a:defRPr>
            </a:pPr>
            <a:r>
              <a:t>QR + Face Recognition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993392"/>
            <a:ext cx="1508760" cy="603504"/>
          </a:xfrm>
          <a:prstGeom prst="rect">
            <a:avLst/>
          </a:prstGeom>
          <a:solidFill>
            <a:srgbClr val="EDF3F9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1" y="2075688"/>
            <a:ext cx="1362456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4303E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8839" y="1993392"/>
            <a:ext cx="4663440" cy="603504"/>
          </a:xfrm>
          <a:prstGeom prst="rect">
            <a:avLst/>
          </a:prstGeom>
          <a:solidFill>
            <a:srgbClr val="EDF3F9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21991" y="2075688"/>
            <a:ext cx="4517136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303E"/>
                </a:solidFill>
                <a:latin typeface="Aptos"/>
              </a:defRPr>
            </a:pPr>
            <a:r>
              <a:t>Proxy attendance possible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12279" y="1993392"/>
            <a:ext cx="4709160" cy="603504"/>
          </a:xfrm>
          <a:prstGeom prst="rect">
            <a:avLst/>
          </a:prstGeom>
          <a:solidFill>
            <a:srgbClr val="EDF3F9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85431" y="2075688"/>
            <a:ext cx="4562856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F1F34"/>
                </a:solidFill>
                <a:latin typeface="Aptos"/>
              </a:defRPr>
            </a:pPr>
            <a:r>
              <a:t>Identity + session verification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2596896"/>
            <a:ext cx="15087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1" y="2679191"/>
            <a:ext cx="1362456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4303E"/>
                </a:solidFill>
                <a:latin typeface="Aptos"/>
              </a:defRPr>
            </a:pPr>
            <a:r>
              <a:t>Contact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48839" y="2596896"/>
            <a:ext cx="4663440" cy="603504"/>
          </a:xfrm>
          <a:prstGeom prst="rect">
            <a:avLst/>
          </a:prstGeom>
          <a:solidFill>
            <a:srgbClr val="FFFFFF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21991" y="2679191"/>
            <a:ext cx="4517136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303E"/>
                </a:solidFill>
                <a:latin typeface="Aptos"/>
              </a:defRPr>
            </a:pPr>
            <a:r>
              <a:t>Manual / biometric contact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12279" y="2596896"/>
            <a:ext cx="47091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85431" y="2679191"/>
            <a:ext cx="4562856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F1F34"/>
                </a:solidFill>
                <a:latin typeface="Aptos"/>
              </a:defRPr>
            </a:pPr>
            <a:r>
              <a:t>Contactless camera-based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200400"/>
            <a:ext cx="1508760" cy="603504"/>
          </a:xfrm>
          <a:prstGeom prst="rect">
            <a:avLst/>
          </a:prstGeom>
          <a:solidFill>
            <a:srgbClr val="EDF3F9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3231" y="3282696"/>
            <a:ext cx="1362456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4303E"/>
                </a:solidFill>
                <a:latin typeface="Aptos"/>
              </a:defRPr>
            </a:pPr>
            <a:r>
              <a:t>Spoof resistance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48839" y="3200400"/>
            <a:ext cx="4663440" cy="603504"/>
          </a:xfrm>
          <a:prstGeom prst="rect">
            <a:avLst/>
          </a:prstGeom>
          <a:solidFill>
            <a:srgbClr val="EDF3F9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221991" y="3282696"/>
            <a:ext cx="4517136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303E"/>
                </a:solidFill>
                <a:latin typeface="Aptos"/>
              </a:defRPr>
            </a:pPr>
            <a:r>
              <a:t>Usually limited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12279" y="3200400"/>
            <a:ext cx="4709160" cy="603504"/>
          </a:xfrm>
          <a:prstGeom prst="rect">
            <a:avLst/>
          </a:prstGeom>
          <a:solidFill>
            <a:srgbClr val="EDF3F9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85431" y="3282696"/>
            <a:ext cx="4562856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F1F34"/>
                </a:solidFill>
                <a:latin typeface="Aptos"/>
              </a:defRPr>
            </a:pPr>
            <a:r>
              <a:t>CNN-based liveness layer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803904"/>
            <a:ext cx="15087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1" y="3886200"/>
            <a:ext cx="1362456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4303E"/>
                </a:solidFill>
                <a:latin typeface="Aptos"/>
              </a:defRPr>
            </a:pPr>
            <a:r>
              <a:t>Environment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48839" y="3803904"/>
            <a:ext cx="4663440" cy="603504"/>
          </a:xfrm>
          <a:prstGeom prst="rect">
            <a:avLst/>
          </a:prstGeom>
          <a:solidFill>
            <a:srgbClr val="FFFFFF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221991" y="3886200"/>
            <a:ext cx="4517136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303E"/>
                </a:solidFill>
                <a:latin typeface="Aptos"/>
              </a:defRPr>
            </a:pPr>
            <a:r>
              <a:t>Sensitive to conditions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12279" y="3803904"/>
            <a:ext cx="47091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85431" y="3886200"/>
            <a:ext cx="4562856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F1F34"/>
                </a:solidFill>
                <a:latin typeface="Aptos"/>
              </a:defRPr>
            </a:pPr>
            <a:r>
              <a:t>Designed for practical variations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407408"/>
            <a:ext cx="1508760" cy="603504"/>
          </a:xfrm>
          <a:prstGeom prst="rect">
            <a:avLst/>
          </a:prstGeom>
          <a:solidFill>
            <a:srgbClr val="EDF3F9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13231" y="4489704"/>
            <a:ext cx="1362456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4303E"/>
                </a:solidFill>
                <a:latin typeface="Aptos"/>
              </a:defRPr>
            </a:pPr>
            <a:r>
              <a:t>Storage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48839" y="4407408"/>
            <a:ext cx="4663440" cy="603504"/>
          </a:xfrm>
          <a:prstGeom prst="rect">
            <a:avLst/>
          </a:prstGeom>
          <a:solidFill>
            <a:srgbClr val="EDF3F9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221991" y="4489704"/>
            <a:ext cx="4517136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303E"/>
                </a:solidFill>
                <a:latin typeface="Aptos"/>
              </a:defRPr>
            </a:pPr>
            <a:r>
              <a:t>Manual registers / basic logs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12279" y="4407408"/>
            <a:ext cx="4709160" cy="603504"/>
          </a:xfrm>
          <a:prstGeom prst="rect">
            <a:avLst/>
          </a:prstGeom>
          <a:solidFill>
            <a:srgbClr val="EDF3F9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85431" y="4489704"/>
            <a:ext cx="4562856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F1F34"/>
                </a:solidFill>
                <a:latin typeface="Aptos"/>
              </a:defRPr>
            </a:pPr>
            <a:r>
              <a:t>Centralized digital database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5010912"/>
            <a:ext cx="15087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13231" y="5093208"/>
            <a:ext cx="1362456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4303E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48839" y="5010912"/>
            <a:ext cx="4663440" cy="603504"/>
          </a:xfrm>
          <a:prstGeom prst="rect">
            <a:avLst/>
          </a:prstGeom>
          <a:solidFill>
            <a:srgbClr val="FFFFFF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221991" y="5093208"/>
            <a:ext cx="4517136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303E"/>
                </a:solidFill>
                <a:latin typeface="Aptos"/>
              </a:defRPr>
            </a:pPr>
            <a:r>
              <a:t>Limited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12279" y="5010912"/>
            <a:ext cx="47091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885431" y="5093208"/>
            <a:ext cx="4562856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F1F34"/>
                </a:solidFill>
                <a:latin typeface="Aptos"/>
              </a:defRPr>
            </a:pPr>
            <a:r>
              <a:t>Dashboard + analytics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5614416"/>
            <a:ext cx="1508760" cy="603504"/>
          </a:xfrm>
          <a:prstGeom prst="rect">
            <a:avLst/>
          </a:prstGeom>
          <a:solidFill>
            <a:srgbClr val="EDF3F9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13231" y="5696712"/>
            <a:ext cx="1362456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4303E"/>
                </a:solidFill>
                <a:latin typeface="Aptos"/>
              </a:defRPr>
            </a:pPr>
            <a:r>
              <a:t>Reports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148839" y="5614416"/>
            <a:ext cx="4663440" cy="603504"/>
          </a:xfrm>
          <a:prstGeom prst="rect">
            <a:avLst/>
          </a:prstGeom>
          <a:solidFill>
            <a:srgbClr val="EDF3F9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221991" y="5696712"/>
            <a:ext cx="4517136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303E"/>
                </a:solidFill>
                <a:latin typeface="Aptos"/>
              </a:defRPr>
            </a:pPr>
            <a:r>
              <a:t>Manual preparation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12279" y="5614416"/>
            <a:ext cx="4709160" cy="603504"/>
          </a:xfrm>
          <a:prstGeom prst="rect">
            <a:avLst/>
          </a:prstGeom>
          <a:solidFill>
            <a:srgbClr val="EDF3F9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885431" y="5696712"/>
            <a:ext cx="4562856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F1F34"/>
                </a:solidFill>
                <a:latin typeface="Aptos"/>
              </a:defRPr>
            </a:pPr>
            <a:r>
              <a:t>PDF / Excel export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35640" y="6528816"/>
            <a:ext cx="685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1F34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7. Block Diagram for 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109728"/>
            <a:ext cx="187451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EDCEB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40280"/>
            <a:ext cx="1508760" cy="7132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2350008"/>
            <a:ext cx="1362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F1F34"/>
                </a:solidFill>
                <a:latin typeface="Aptos"/>
              </a:defRPr>
            </a:pPr>
            <a:r>
              <a:t>QR Scanner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642616"/>
            <a:ext cx="13624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606D7C"/>
                </a:solidFill>
                <a:latin typeface="Aptos"/>
              </a:defRPr>
            </a:pPr>
            <a:r>
              <a:t>Session 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2240280"/>
            <a:ext cx="1508760" cy="7132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13432" y="2350008"/>
            <a:ext cx="1362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F1F34"/>
                </a:solidFill>
                <a:latin typeface="Aptos"/>
              </a:defRPr>
            </a:pPr>
            <a:r>
              <a:t>Camera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13432" y="2642616"/>
            <a:ext cx="13624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606D7C"/>
                </a:solidFill>
                <a:latin typeface="Aptos"/>
              </a:defRPr>
            </a:pPr>
            <a:r>
              <a:t>Live 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1325880"/>
            <a:ext cx="1691640" cy="7132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50791" y="1435607"/>
            <a:ext cx="1545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F1F34"/>
                </a:solidFill>
                <a:latin typeface="Aptos"/>
              </a:defRPr>
            </a:pPr>
            <a:r>
              <a:t>Face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1" y="1728216"/>
            <a:ext cx="15453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606D7C"/>
                </a:solidFill>
                <a:latin typeface="Aptos"/>
              </a:defRPr>
            </a:pPr>
            <a:r>
              <a:t>OpenCV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3154680"/>
            <a:ext cx="1691640" cy="7132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50791" y="3264408"/>
            <a:ext cx="1545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F1F34"/>
                </a:solidFill>
                <a:latin typeface="Aptos"/>
              </a:defRPr>
            </a:pPr>
            <a:r>
              <a:t>Liveness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0791" y="3557016"/>
            <a:ext cx="15453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606D7C"/>
                </a:solidFill>
                <a:latin typeface="Aptos"/>
              </a:defRPr>
            </a:pPr>
            <a:r>
              <a:t>CNN / Blink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240280"/>
            <a:ext cx="1691640" cy="7132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16752" y="2350008"/>
            <a:ext cx="1545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F1F34"/>
                </a:solidFill>
                <a:latin typeface="Aptos"/>
              </a:defRPr>
            </a:pPr>
            <a:r>
              <a:t>Recognition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6752" y="2642616"/>
            <a:ext cx="15453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606D7C"/>
                </a:solidFill>
                <a:latin typeface="Aptos"/>
              </a:defRPr>
            </a:pPr>
            <a:r>
              <a:t>FaceNet / LBPH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2240280"/>
            <a:ext cx="1691640" cy="7132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28431" y="2350008"/>
            <a:ext cx="1545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F1F34"/>
                </a:solidFill>
                <a:latin typeface="Aptos"/>
              </a:defRPr>
            </a:pPr>
            <a:r>
              <a:t>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8431" y="2642616"/>
            <a:ext cx="15453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606D7C"/>
                </a:solidFill>
                <a:latin typeface="Aptos"/>
              </a:defRPr>
            </a:pPr>
            <a:r>
              <a:t>Identity + Session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21240" y="1325880"/>
            <a:ext cx="1691640" cy="7132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94392" y="1435607"/>
            <a:ext cx="1545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F1F34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4392" y="1728216"/>
            <a:ext cx="15453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606D7C"/>
                </a:solidFill>
                <a:latin typeface="Aptos"/>
              </a:defRPr>
            </a:pPr>
            <a:r>
              <a:t>Attendance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21240" y="3154680"/>
            <a:ext cx="1691640" cy="7132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94392" y="3264408"/>
            <a:ext cx="1545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F1F34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94392" y="3557016"/>
            <a:ext cx="15453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606D7C"/>
                </a:solidFill>
                <a:latin typeface="Aptos"/>
              </a:defRPr>
            </a:pPr>
            <a:r>
              <a:t>Analytics / Reports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011680" y="2596896"/>
            <a:ext cx="201168" cy="0"/>
          </a:xfrm>
          <a:prstGeom prst="line">
            <a:avLst/>
          </a:prstGeom>
          <a:ln w="31750">
            <a:solidFill>
              <a:srgbClr val="236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749039" y="1682496"/>
            <a:ext cx="210313" cy="914400"/>
          </a:xfrm>
          <a:prstGeom prst="line">
            <a:avLst/>
          </a:prstGeom>
          <a:ln w="31750">
            <a:solidFill>
              <a:srgbClr val="236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749039" y="2596896"/>
            <a:ext cx="210313" cy="914400"/>
          </a:xfrm>
          <a:prstGeom prst="line">
            <a:avLst/>
          </a:prstGeom>
          <a:ln w="31750">
            <a:solidFill>
              <a:srgbClr val="236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669280" y="1682496"/>
            <a:ext cx="246888" cy="914400"/>
          </a:xfrm>
          <a:prstGeom prst="line">
            <a:avLst/>
          </a:prstGeom>
          <a:ln w="31750">
            <a:solidFill>
              <a:srgbClr val="236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669280" y="2596896"/>
            <a:ext cx="246888" cy="914400"/>
          </a:xfrm>
          <a:prstGeom prst="line">
            <a:avLst/>
          </a:prstGeom>
          <a:ln w="31750">
            <a:solidFill>
              <a:srgbClr val="236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680960" y="2596896"/>
            <a:ext cx="246888" cy="0"/>
          </a:xfrm>
          <a:prstGeom prst="line">
            <a:avLst/>
          </a:prstGeom>
          <a:ln w="31750">
            <a:solidFill>
              <a:srgbClr val="236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674352" y="1682496"/>
            <a:ext cx="219456" cy="914400"/>
          </a:xfrm>
          <a:prstGeom prst="line">
            <a:avLst/>
          </a:prstGeom>
          <a:ln w="31750">
            <a:solidFill>
              <a:srgbClr val="236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674352" y="2596896"/>
            <a:ext cx="219456" cy="914400"/>
          </a:xfrm>
          <a:prstGeom prst="line">
            <a:avLst/>
          </a:prstGeom>
          <a:ln w="31750">
            <a:solidFill>
              <a:srgbClr val="236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011680" y="2359152"/>
            <a:ext cx="5897880" cy="0"/>
          </a:xfrm>
          <a:prstGeom prst="line">
            <a:avLst/>
          </a:prstGeom>
          <a:ln w="17780">
            <a:solidFill>
              <a:srgbClr val="E0A6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657600" y="4754880"/>
            <a:ext cx="5029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F1F34"/>
                </a:solidFill>
                <a:latin typeface="Aptos"/>
              </a:defRPr>
            </a:pPr>
            <a:r>
              <a:t>Attendance is recorded only when SESSION + IDENTITY + LIVENESS are successfully verified.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60520" y="5349240"/>
            <a:ext cx="1371600" cy="347472"/>
          </a:xfrm>
          <a:prstGeom prst="roundRect">
            <a:avLst/>
          </a:prstGeom>
          <a:solidFill>
            <a:srgbClr val="2D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60520" y="5367527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SECURE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23560" y="5349240"/>
            <a:ext cx="1554480" cy="347472"/>
          </a:xfrm>
          <a:prstGeom prst="roundRect">
            <a:avLst/>
          </a:prstGeom>
          <a:solidFill>
            <a:srgbClr val="23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623560" y="5367527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CONTACTLESS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269480" y="5349240"/>
            <a:ext cx="1417320" cy="347472"/>
          </a:xfrm>
          <a:prstGeom prst="roundRect">
            <a:avLst/>
          </a:prstGeom>
          <a:solidFill>
            <a:srgbClr val="188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269480" y="5367527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AUDITABLE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6510528"/>
            <a:ext cx="11356848" cy="10972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835640" y="6528816"/>
            <a:ext cx="685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1F34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8. Module Description – Enrollment &amp;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109728"/>
            <a:ext cx="187451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EDCEB"/>
                </a:solidFill>
                <a:latin typeface="Aptos"/>
              </a:defRPr>
            </a:pPr>
            <a:r>
              <a:t>MODULES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3474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64008" cy="1965960"/>
          </a:xfrm>
          <a:prstGeom prst="rect">
            <a:avLst/>
          </a:prstGeom>
          <a:solidFill>
            <a:srgbClr val="1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060704"/>
            <a:ext cx="31272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F34"/>
                </a:solidFill>
                <a:latin typeface="Aptos"/>
              </a:defRPr>
            </a:pPr>
            <a:r>
              <a:t>MODULE 1 • ADMIN 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481328"/>
            <a:ext cx="3108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4303E"/>
                </a:solidFill>
                <a:latin typeface="Aptos"/>
              </a:defRPr>
            </a:pPr>
            <a:r>
              <a:t>Secure admin authentication.</a:t>
            </a:r>
            <a:br/>
            <a:r>
              <a:t>Create subjects and attendance sessions.</a:t>
            </a:r>
            <a:br/>
            <a:r>
              <a:t>Generate a session-specific QR code.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914400"/>
            <a:ext cx="3474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914400"/>
            <a:ext cx="64008" cy="1965960"/>
          </a:xfrm>
          <a:prstGeom prst="rect">
            <a:avLst/>
          </a:prstGeom>
          <a:solidFill>
            <a:srgbClr val="23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060704"/>
            <a:ext cx="31272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F34"/>
                </a:solidFill>
                <a:latin typeface="Aptos"/>
              </a:defRPr>
            </a:pPr>
            <a:r>
              <a:t>MODULE 2 • STUDENT ENROLLMENT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481328"/>
            <a:ext cx="3108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4303E"/>
                </a:solidFill>
                <a:latin typeface="Aptos"/>
              </a:defRPr>
            </a:pPr>
            <a:r>
              <a:t>Capture multiple face samples.</a:t>
            </a:r>
            <a:br/>
            <a:r>
              <a:t>Assign student ID / roll number.</a:t>
            </a:r>
            <a:br/>
            <a:r>
              <a:t>Create and store face representation.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914400"/>
            <a:ext cx="34290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01583" y="914400"/>
            <a:ext cx="64008" cy="1965960"/>
          </a:xfrm>
          <a:prstGeom prst="rect">
            <a:avLst/>
          </a:prstGeom>
          <a:solidFill>
            <a:srgbClr val="188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02752" y="1060704"/>
            <a:ext cx="30815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F34"/>
                </a:solidFill>
                <a:latin typeface="Aptos"/>
              </a:defRPr>
            </a:pPr>
            <a:r>
              <a:t>MODULE 3 • QR SESSION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481328"/>
            <a:ext cx="3063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4303E"/>
                </a:solidFill>
                <a:latin typeface="Aptos"/>
              </a:defRPr>
            </a:pPr>
            <a:r>
              <a:t>Generate QR for active subject/session.</a:t>
            </a:r>
            <a:br/>
            <a:r>
              <a:t>Student scans the code before face verification.</a:t>
            </a:r>
            <a:br/>
            <a:r>
              <a:t>Reject expired/invalid sessions.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012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F34"/>
                </a:solidFill>
                <a:latin typeface="Aptos"/>
              </a:defRPr>
            </a:pPr>
            <a:r>
              <a:t>Enrollment 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40480"/>
            <a:ext cx="18288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6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014215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0F1F34"/>
                </a:solidFill>
                <a:latin typeface="Aptos"/>
              </a:defRPr>
            </a:pPr>
            <a:r>
              <a:t>Student Details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87752" y="4169663"/>
            <a:ext cx="320039" cy="0"/>
          </a:xfrm>
          <a:prstGeom prst="line">
            <a:avLst/>
          </a:prstGeom>
          <a:ln w="31750">
            <a:solidFill>
              <a:srgbClr val="236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971800" y="3840480"/>
            <a:ext cx="18288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6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17520" y="4014215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0F1F34"/>
                </a:solidFill>
                <a:latin typeface="Aptos"/>
              </a:defRPr>
            </a:pPr>
            <a:r>
              <a:t>Face Capture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828031" y="4169663"/>
            <a:ext cx="320041" cy="0"/>
          </a:xfrm>
          <a:prstGeom prst="line">
            <a:avLst/>
          </a:prstGeom>
          <a:ln w="31750">
            <a:solidFill>
              <a:srgbClr val="236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212080" y="3840480"/>
            <a:ext cx="18288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6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57800" y="4014215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0F1F34"/>
                </a:solidFill>
                <a:latin typeface="Aptos"/>
              </a:defRPr>
            </a:pPr>
            <a:r>
              <a:t>Pre-processing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68312" y="4169663"/>
            <a:ext cx="320040" cy="0"/>
          </a:xfrm>
          <a:prstGeom prst="line">
            <a:avLst/>
          </a:prstGeom>
          <a:ln w="31750">
            <a:solidFill>
              <a:srgbClr val="236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452360" y="3840480"/>
            <a:ext cx="18288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6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8080" y="4014215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0F1F34"/>
                </a:solidFill>
                <a:latin typeface="Aptos"/>
              </a:defRPr>
            </a:pPr>
            <a:r>
              <a:t>Face Encoding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308592" y="4169663"/>
            <a:ext cx="320040" cy="0"/>
          </a:xfrm>
          <a:prstGeom prst="line">
            <a:avLst/>
          </a:prstGeom>
          <a:ln w="31750">
            <a:solidFill>
              <a:srgbClr val="236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692640" y="3840480"/>
            <a:ext cx="18288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6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38360" y="4014215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0F1F34"/>
                </a:solidFill>
                <a:latin typeface="Aptos"/>
              </a:defRPr>
            </a:pPr>
            <a:r>
              <a:t>Model / Embedding Storage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07492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24303E"/>
                </a:solidFill>
                <a:latin typeface="Aptos"/>
              </a:defRPr>
            </a:pPr>
            <a:r>
              <a:t>Design note: the enrollment stage is performed before attendance sessions, so recognition can be fast during live attendance.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6510528"/>
            <a:ext cx="11356848" cy="10972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835640" y="6528816"/>
            <a:ext cx="685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1F34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9. Module Description – Verification &amp;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109728"/>
            <a:ext cx="187451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EDCEB"/>
                </a:solidFill>
                <a:latin typeface="Aptos"/>
              </a:defRPr>
            </a:pPr>
            <a:r>
              <a:t>MODULES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914400"/>
            <a:ext cx="3474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914400"/>
            <a:ext cx="64008" cy="1965960"/>
          </a:xfrm>
          <a:prstGeom prst="rect">
            <a:avLst/>
          </a:prstGeom>
          <a:solidFill>
            <a:srgbClr val="1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060704"/>
            <a:ext cx="31272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F1F34"/>
                </a:solidFill>
                <a:latin typeface="Aptos"/>
              </a:defRPr>
            </a:pPr>
            <a:r>
              <a:t>MODULE 4 • FACE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481328"/>
            <a:ext cx="3108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70" b="0">
                <a:solidFill>
                  <a:srgbClr val="24303E"/>
                </a:solidFill>
                <a:latin typeface="Aptos"/>
              </a:defRPr>
            </a:pPr>
            <a:r>
              <a:t>OpenCV camera input → Haar Cascade / face detector → face region extraction.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914400"/>
            <a:ext cx="3474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16552" y="914400"/>
            <a:ext cx="64008" cy="1965960"/>
          </a:xfrm>
          <a:prstGeom prst="rect">
            <a:avLst/>
          </a:prstGeom>
          <a:solidFill>
            <a:srgbClr val="23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060704"/>
            <a:ext cx="31272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F1F34"/>
                </a:solidFill>
                <a:latin typeface="Aptos"/>
              </a:defRPr>
            </a:pPr>
            <a:r>
              <a:t>MODULE 5 • FACE RECOGNITION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481328"/>
            <a:ext cx="3108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70" b="0">
                <a:solidFill>
                  <a:srgbClr val="24303E"/>
                </a:solidFill>
                <a:latin typeface="Aptos"/>
              </a:defRPr>
            </a:pPr>
            <a:r>
              <a:t>Generate facial representation using FaceNet embeddings / LBPH model and compare with registered students.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8744" y="914400"/>
            <a:ext cx="3474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38744" y="914400"/>
            <a:ext cx="64008" cy="1965960"/>
          </a:xfrm>
          <a:prstGeom prst="rect">
            <a:avLst/>
          </a:prstGeom>
          <a:solidFill>
            <a:srgbClr val="188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9912" y="1060704"/>
            <a:ext cx="31272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F1F34"/>
                </a:solidFill>
                <a:latin typeface="Aptos"/>
              </a:defRPr>
            </a:pPr>
            <a:r>
              <a:t>MODULE 6 • LIVENESS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2" y="1481328"/>
            <a:ext cx="3108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70" b="0">
                <a:solidFill>
                  <a:srgbClr val="24303E"/>
                </a:solidFill>
                <a:latin typeface="Aptos"/>
              </a:defRPr>
            </a:pPr>
            <a:r>
              <a:t>Blink / CNN-based liveness verification to reduce photo/video spoofing.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337560"/>
            <a:ext cx="3474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337560"/>
            <a:ext cx="64008" cy="1965960"/>
          </a:xfrm>
          <a:prstGeom prst="rect">
            <a:avLst/>
          </a:prstGeom>
          <a:solidFill>
            <a:srgbClr val="E0A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" y="3483864"/>
            <a:ext cx="31272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F1F34"/>
                </a:solidFill>
                <a:latin typeface="Aptos"/>
              </a:defRPr>
            </a:pPr>
            <a:r>
              <a:t>MODULE 7 • ATTENDANCE 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904487"/>
            <a:ext cx="3108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70" b="0">
                <a:solidFill>
                  <a:srgbClr val="24303E"/>
                </a:solidFill>
                <a:latin typeface="Aptos"/>
              </a:defRPr>
            </a:pPr>
            <a:r>
              <a:t>Store student ID, subject, session, date and time after successful verification.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6552" y="3337560"/>
            <a:ext cx="3474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16552" y="3337560"/>
            <a:ext cx="64008" cy="1965960"/>
          </a:xfrm>
          <a:prstGeom prst="rect">
            <a:avLst/>
          </a:prstGeom>
          <a:solidFill>
            <a:srgbClr val="1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7720" y="3483864"/>
            <a:ext cx="31272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F1F34"/>
                </a:solidFill>
                <a:latin typeface="Aptos"/>
              </a:defRPr>
            </a:pPr>
            <a:r>
              <a:t>MODULE 8 • ADMIN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904487"/>
            <a:ext cx="3108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70" b="0">
                <a:solidFill>
                  <a:srgbClr val="24303E"/>
                </a:solidFill>
                <a:latin typeface="Aptos"/>
              </a:defRPr>
            </a:pPr>
            <a:r>
              <a:t>View daily and subject-wise attendance, filter records and monitor session status.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38744" y="3337560"/>
            <a:ext cx="3474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38744" y="3337560"/>
            <a:ext cx="64008" cy="1965960"/>
          </a:xfrm>
          <a:prstGeom prst="rect">
            <a:avLst/>
          </a:prstGeom>
          <a:solidFill>
            <a:srgbClr val="23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39912" y="3483864"/>
            <a:ext cx="31272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F1F34"/>
                </a:solidFill>
                <a:latin typeface="Aptos"/>
              </a:defRPr>
            </a:pPr>
            <a:r>
              <a:t>MODULE 9 • REPORT EXPORT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9912" y="3904487"/>
            <a:ext cx="3108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70" b="0">
                <a:solidFill>
                  <a:srgbClr val="24303E"/>
                </a:solidFill>
                <a:latin typeface="Aptos"/>
              </a:defRPr>
            </a:pPr>
            <a:r>
              <a:t>Generate PDF and Excel reports for faculty/admin use.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6510528"/>
            <a:ext cx="11356848" cy="10972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835640" y="6528816"/>
            <a:ext cx="685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1F34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10. Proposed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109728"/>
            <a:ext cx="187451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EDCEB"/>
                </a:solidFill>
                <a:latin typeface="Aptos"/>
              </a:defRPr>
            </a:pPr>
            <a:r>
              <a:t>IMPLEMENTATION 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868680"/>
            <a:ext cx="5257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868680"/>
            <a:ext cx="64008" cy="960120"/>
          </a:xfrm>
          <a:prstGeom prst="rect">
            <a:avLst/>
          </a:prstGeom>
          <a:solidFill>
            <a:srgbClr val="1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014983"/>
            <a:ext cx="49103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F1F34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435607"/>
            <a:ext cx="4892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4303E"/>
                </a:solidFill>
                <a:latin typeface="Aptos"/>
              </a:defRPr>
            </a:pPr>
            <a:r>
              <a:t>HTML5 • CSS3 • JavaScript (ES6+)  |  Responsive student/admin interface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868680"/>
            <a:ext cx="5257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868680"/>
            <a:ext cx="64008" cy="960120"/>
          </a:xfrm>
          <a:prstGeom prst="rect">
            <a:avLst/>
          </a:prstGeom>
          <a:solidFill>
            <a:srgbClr val="23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014983"/>
            <a:ext cx="49103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F1F34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435607"/>
            <a:ext cx="4892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4303E"/>
                </a:solidFill>
                <a:latin typeface="Aptos"/>
              </a:defRPr>
            </a:pPr>
            <a:r>
              <a:t>Python • Flask / Django  |  API layer and attendance workflow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130552"/>
            <a:ext cx="5257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2130552"/>
            <a:ext cx="64008" cy="960120"/>
          </a:xfrm>
          <a:prstGeom prst="rect">
            <a:avLst/>
          </a:prstGeom>
          <a:solidFill>
            <a:srgbClr val="188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" y="2276856"/>
            <a:ext cx="49103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F1F34"/>
                </a:solidFill>
                <a:latin typeface="Aptos"/>
              </a:defRPr>
            </a:pPr>
            <a:r>
              <a:t>Computer 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2697480"/>
            <a:ext cx="4892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4303E"/>
                </a:solidFill>
                <a:latin typeface="Aptos"/>
              </a:defRPr>
            </a:pPr>
            <a:r>
              <a:t>OpenCV  |  Camera capture and face detection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130552"/>
            <a:ext cx="5257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2130552"/>
            <a:ext cx="64008" cy="960120"/>
          </a:xfrm>
          <a:prstGeom prst="rect">
            <a:avLst/>
          </a:prstGeom>
          <a:solidFill>
            <a:srgbClr val="E0A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2276856"/>
            <a:ext cx="49103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F1F34"/>
                </a:solidFill>
                <a:latin typeface="Aptos"/>
              </a:defRPr>
            </a:pPr>
            <a:r>
              <a:t>Recognition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697480"/>
            <a:ext cx="4892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4303E"/>
                </a:solidFill>
                <a:latin typeface="Aptos"/>
              </a:defRPr>
            </a:pPr>
            <a:r>
              <a:t>FaceNet embeddings + LBPH  |  Facial feature representation / matching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392424"/>
            <a:ext cx="5257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3392424"/>
            <a:ext cx="64008" cy="960120"/>
          </a:xfrm>
          <a:prstGeom prst="rect">
            <a:avLst/>
          </a:prstGeom>
          <a:solidFill>
            <a:srgbClr val="1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7" y="3538728"/>
            <a:ext cx="49103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F1F34"/>
                </a:solidFill>
                <a:latin typeface="Aptos"/>
              </a:defRPr>
            </a:pPr>
            <a:r>
              <a:t>Liveness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3959352"/>
            <a:ext cx="4892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4303E"/>
                </a:solidFill>
                <a:latin typeface="Aptos"/>
              </a:defRPr>
            </a:pPr>
            <a:r>
              <a:t>CNN / blink verification  |  Anti-spoofing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392424"/>
            <a:ext cx="5257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3392424"/>
            <a:ext cx="64008" cy="960120"/>
          </a:xfrm>
          <a:prstGeom prst="rect">
            <a:avLst/>
          </a:prstGeom>
          <a:solidFill>
            <a:srgbClr val="23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19088" y="3538728"/>
            <a:ext cx="49103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F1F34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3959352"/>
            <a:ext cx="4892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4303E"/>
                </a:solidFill>
                <a:latin typeface="Aptos"/>
              </a:defRPr>
            </a:pPr>
            <a:r>
              <a:t>Firebase / MySQL / SQLite  |  Student + attendance records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654296"/>
            <a:ext cx="5257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" y="4654296"/>
            <a:ext cx="64008" cy="960120"/>
          </a:xfrm>
          <a:prstGeom prst="rect">
            <a:avLst/>
          </a:prstGeom>
          <a:solidFill>
            <a:srgbClr val="188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7" y="4800600"/>
            <a:ext cx="49103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F1F34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" y="5221224"/>
            <a:ext cx="4892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4303E"/>
                </a:solidFill>
                <a:latin typeface="Aptos"/>
              </a:defRPr>
            </a:pPr>
            <a:r>
              <a:t>Chart.js  |  Attendance visualization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654296"/>
            <a:ext cx="5257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7920" y="4654296"/>
            <a:ext cx="64008" cy="960120"/>
          </a:xfrm>
          <a:prstGeom prst="rect">
            <a:avLst/>
          </a:prstGeom>
          <a:solidFill>
            <a:srgbClr val="E0A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19088" y="4800600"/>
            <a:ext cx="49103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F1F34"/>
                </a:solidFill>
                <a:latin typeface="Aptos"/>
              </a:defRPr>
            </a:pPr>
            <a:r>
              <a:t>Reports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5221224"/>
            <a:ext cx="4892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4303E"/>
                </a:solidFill>
                <a:latin typeface="Aptos"/>
              </a:defRPr>
            </a:pPr>
            <a:r>
              <a:t>jsPDF + SheetJS  |  PDF and Excel export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080760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0F1F34"/>
                </a:solidFill>
                <a:latin typeface="Aptos"/>
              </a:defRPr>
            </a:pPr>
            <a:r>
              <a:t>Prototype-first approach: build the end-to-end workflow, validate recognition and then optimize deployment.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6510528"/>
            <a:ext cx="11356848" cy="10972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835640" y="6528816"/>
            <a:ext cx="685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1F34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11. Expected Outcomes &amp; Future Enhancement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109728"/>
            <a:ext cx="187451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EDCEB"/>
                </a:solidFill>
                <a:latin typeface="Aptos"/>
              </a:defRPr>
            </a:pPr>
            <a:r>
              <a:t>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52578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64008" cy="1965960"/>
          </a:xfrm>
          <a:prstGeom prst="rect">
            <a:avLst/>
          </a:prstGeom>
          <a:solidFill>
            <a:srgbClr val="1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060704"/>
            <a:ext cx="49103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F34"/>
                </a:solidFill>
                <a:latin typeface="Aptos"/>
              </a:defRPr>
            </a:pPr>
            <a:r>
              <a:t>EXPECTED OUTCOMES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481328"/>
            <a:ext cx="4892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4303E"/>
                </a:solidFill>
                <a:latin typeface="Aptos"/>
              </a:defRPr>
            </a:pPr>
            <a:r>
              <a:t>• Reduced manual work</a:t>
            </a:r>
            <a:br/>
            <a:r>
              <a:t>• Lower proxy-attendance risk</a:t>
            </a:r>
            <a:br/>
            <a:r>
              <a:t>• Faster digital attendance logging</a:t>
            </a:r>
            <a:br/>
            <a:r>
              <a:t>• Centralized subject-wise records</a:t>
            </a:r>
            <a:br/>
            <a:r>
              <a:t>• Easy report generation</a:t>
            </a:r>
            <a:br/>
            <a:r>
              <a:t>• Better auditability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914400"/>
            <a:ext cx="52578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914400"/>
            <a:ext cx="64008" cy="1965960"/>
          </a:xfrm>
          <a:prstGeom prst="rect">
            <a:avLst/>
          </a:prstGeom>
          <a:solidFill>
            <a:srgbClr val="23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060704"/>
            <a:ext cx="49103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F34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481328"/>
            <a:ext cx="4892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4303E"/>
                </a:solidFill>
                <a:latin typeface="Aptos"/>
              </a:defRPr>
            </a:pPr>
            <a:r>
              <a:t>• Mobile application</a:t>
            </a:r>
            <a:br/>
            <a:r>
              <a:t>• AI-based attendance prediction</a:t>
            </a:r>
            <a:br/>
            <a:r>
              <a:t>• Multi-branch / multi-campus support</a:t>
            </a:r>
            <a:br/>
            <a:r>
              <a:t>• Stronger deep-learning recognition</a:t>
            </a:r>
            <a:br/>
            <a:r>
              <a:t>• Larger and more diverse datasets</a:t>
            </a:r>
            <a:br/>
            <a:r>
              <a:t>• Advanced anti-spoofing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3756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F1F34"/>
                </a:solidFill>
                <a:latin typeface="Aptos"/>
              </a:defRPr>
            </a:pPr>
            <a:r>
              <a:t>Project Development Roadmap</a:t>
            </a:r>
          </a:p>
        </p:txBody>
      </p:sp>
      <p:sp>
        <p:nvSpPr>
          <p:cNvPr id="15" name="Oval 14"/>
          <p:cNvSpPr/>
          <p:nvPr/>
        </p:nvSpPr>
        <p:spPr>
          <a:xfrm>
            <a:off x="1261872" y="3977639"/>
            <a:ext cx="566928" cy="566928"/>
          </a:xfrm>
          <a:prstGeom prst="ellipse">
            <a:avLst/>
          </a:prstGeom>
          <a:solidFill>
            <a:srgbClr val="1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61872" y="4096512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645152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20" b="1">
                <a:solidFill>
                  <a:srgbClr val="24303E"/>
                </a:solidFill>
                <a:latin typeface="Aptos"/>
              </a:defRPr>
            </a:pPr>
            <a:r>
              <a:t>Literature &amp; requirements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74519" y="4261104"/>
            <a:ext cx="640081" cy="0"/>
          </a:xfrm>
          <a:prstGeom prst="line">
            <a:avLst/>
          </a:prstGeom>
          <a:ln w="22860">
            <a:solidFill>
              <a:srgbClr val="E1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136391" y="3977639"/>
            <a:ext cx="566928" cy="566928"/>
          </a:xfrm>
          <a:prstGeom prst="ellipse">
            <a:avLst/>
          </a:prstGeom>
          <a:solidFill>
            <a:srgbClr val="23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136391" y="4096512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645152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20" b="1">
                <a:solidFill>
                  <a:srgbClr val="24303E"/>
                </a:solidFill>
                <a:latin typeface="Aptos"/>
              </a:defRPr>
            </a:pPr>
            <a:r>
              <a:t>Dataset / enrollment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749039" y="4261104"/>
            <a:ext cx="640081" cy="0"/>
          </a:xfrm>
          <a:prstGeom prst="line">
            <a:avLst/>
          </a:prstGeom>
          <a:ln w="22860">
            <a:solidFill>
              <a:srgbClr val="E1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010912" y="3977639"/>
            <a:ext cx="566928" cy="566928"/>
          </a:xfrm>
          <a:prstGeom prst="ellipse">
            <a:avLst/>
          </a:prstGeom>
          <a:solidFill>
            <a:srgbClr val="188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10912" y="4096512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645152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20" b="1">
                <a:solidFill>
                  <a:srgbClr val="24303E"/>
                </a:solidFill>
                <a:latin typeface="Aptos"/>
              </a:defRPr>
            </a:pPr>
            <a:r>
              <a:t>Recognition + QR prototype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23559" y="4261104"/>
            <a:ext cx="640081" cy="0"/>
          </a:xfrm>
          <a:prstGeom prst="line">
            <a:avLst/>
          </a:prstGeom>
          <a:ln w="22860">
            <a:solidFill>
              <a:srgbClr val="E1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885431" y="3977639"/>
            <a:ext cx="566928" cy="566928"/>
          </a:xfrm>
          <a:prstGeom prst="ellipse">
            <a:avLst/>
          </a:prstGeom>
          <a:solidFill>
            <a:srgbClr val="E0A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85431" y="4096512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4645152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20" b="1">
                <a:solidFill>
                  <a:srgbClr val="24303E"/>
                </a:solidFill>
                <a:latin typeface="Aptos"/>
              </a:defRPr>
            </a:pPr>
            <a:r>
              <a:t>Liveness + database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98079" y="4261104"/>
            <a:ext cx="640080" cy="0"/>
          </a:xfrm>
          <a:prstGeom prst="line">
            <a:avLst/>
          </a:prstGeom>
          <a:ln w="22860">
            <a:solidFill>
              <a:srgbClr val="E1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759952" y="3977639"/>
            <a:ext cx="566928" cy="566928"/>
          </a:xfrm>
          <a:prstGeom prst="ellipse">
            <a:avLst/>
          </a:prstGeom>
          <a:solidFill>
            <a:srgbClr val="1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59952" y="4096512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4645152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20" b="1">
                <a:solidFill>
                  <a:srgbClr val="24303E"/>
                </a:solidFill>
                <a:latin typeface="Aptos"/>
              </a:defRPr>
            </a:pPr>
            <a:r>
              <a:t>Dashboard + reports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72600" y="4261104"/>
            <a:ext cx="640080" cy="0"/>
          </a:xfrm>
          <a:prstGeom prst="line">
            <a:avLst/>
          </a:prstGeom>
          <a:ln w="22860">
            <a:solidFill>
              <a:srgbClr val="E1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10634472" y="3977639"/>
            <a:ext cx="566928" cy="566928"/>
          </a:xfrm>
          <a:prstGeom prst="ellipse">
            <a:avLst/>
          </a:prstGeom>
          <a:solidFill>
            <a:srgbClr val="23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34472" y="4096512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645152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20" b="1">
                <a:solidFill>
                  <a:srgbClr val="24303E"/>
                </a:solidFill>
                <a:latin typeface="Aptos"/>
              </a:defRPr>
            </a:pPr>
            <a:r>
              <a:t>Testing &amp; evaluation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6510528"/>
            <a:ext cx="11356848" cy="10972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835640" y="6528816"/>
            <a:ext cx="685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1F34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12. Key Literature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109728"/>
            <a:ext cx="187451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EDCEB"/>
                </a:solidFill>
                <a:latin typeface="Aptos"/>
              </a:defRPr>
            </a:pPr>
            <a:r>
              <a:t>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96112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0F1F34"/>
                </a:solidFill>
                <a:latin typeface="Aptos"/>
              </a:defRPr>
            </a:pPr>
            <a:r>
              <a:t>Primary 2026 literature used for the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103784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783080"/>
            <a:ext cx="64008" cy="1874519"/>
          </a:xfrm>
          <a:prstGeom prst="rect">
            <a:avLst/>
          </a:prstGeom>
          <a:solidFill>
            <a:srgbClr val="1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1929384"/>
            <a:ext cx="10030967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F34"/>
                </a:solidFill>
                <a:latin typeface="Aptos"/>
              </a:defRPr>
            </a:pPr>
            <a:r>
              <a:t>JACK ET AL. (2026) • DISCOVER ARTIFICIAL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350008"/>
            <a:ext cx="1001268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4303E"/>
                </a:solidFill>
                <a:latin typeface="Aptos"/>
              </a:defRPr>
            </a:pPr>
            <a:r>
              <a:t>“Development of a multi-facet facial recognition model for institutional attendance activities during examination scenario”</a:t>
            </a:r>
            <a:br/>
            <a:br/>
            <a:r>
              <a:t>Kufre Esenowo Jack et al. • Discover Artificial Intelligence (2026) 6:746 • DOI: 10.1007/s44163-026-01474-y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6908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F34"/>
                </a:solidFill>
                <a:latin typeface="Aptos"/>
              </a:defRPr>
            </a:pPr>
            <a:r>
              <a:t>Key evidence carried into our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26280"/>
            <a:ext cx="10058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350">
                <a:solidFill>
                  <a:srgbClr val="24303E"/>
                </a:solidFill>
                <a:latin typeface="Aptos"/>
              </a:defRPr>
            </a:pPr>
            <a:r>
              <a:t>• Multi-facet conditions: lighting, head orientation and facial accessories.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350">
                <a:solidFill>
                  <a:srgbClr val="24303E"/>
                </a:solidFill>
                <a:latin typeface="Aptos"/>
              </a:defRPr>
            </a:pPr>
            <a:r>
              <a:t>• Haar Cascade + ResNet-based 128-dimensional encoding + KNN achieved strong recognition performance.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350">
                <a:solidFill>
                  <a:srgbClr val="24303E"/>
                </a:solidFill>
                <a:latin typeface="Aptos"/>
              </a:defRPr>
            </a:pPr>
            <a:r>
              <a:t>• Reported video recognition accuracy: 99.29%; overall response time approximately 6.00 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350">
                <a:solidFill>
                  <a:srgbClr val="24303E"/>
                </a:solidFill>
                <a:latin typeface="Aptos"/>
              </a:defRPr>
            </a:pPr>
            <a:r>
              <a:t>• Important limitation: Haar detection can fail under extreme angles / low-contrast illumination.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016752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606D7C"/>
                </a:solidFill>
                <a:latin typeface="Aptos"/>
              </a:defRPr>
            </a:pPr>
            <a:r>
              <a:t>Additional references: Bairagi et al. (2021), Trivedi et al. (2022), Kamil et al. (2023), Lateef &amp; Kamil (2023), Afiyanto et al. (2025).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6510528"/>
            <a:ext cx="11356848" cy="10972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835640" y="6528816"/>
            <a:ext cx="685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F1F34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ptos"/>
              </a:defRPr>
            </a:pPr>
            <a:endParaRPr lang="en-US" dirty="0"/>
          </a:p>
          <a:p>
            <a:pPr algn="ctr">
              <a:defRPr sz="3600" b="1">
                <a:solidFill>
                  <a:srgbClr val="FFFFFF"/>
                </a:solidFill>
                <a:latin typeface="Aptos"/>
              </a:defRPr>
            </a:pPr>
            <a:r>
              <a:rPr dirty="0"/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063240"/>
            <a:ext cx="8503920" cy="861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rPr dirty="0"/>
              <a:t>Smart Attendance System</a:t>
            </a:r>
            <a:br>
              <a:rPr dirty="0"/>
            </a:br>
            <a:r>
              <a:rPr dirty="0"/>
              <a:t>using Face Recognition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4709160"/>
            <a:ext cx="1828800" cy="347472"/>
          </a:xfrm>
          <a:prstGeom prst="roundRect">
            <a:avLst/>
          </a:prstGeom>
          <a:solidFill>
            <a:srgbClr val="16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88920" y="472744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AI + COMPUTER VISION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4709160"/>
            <a:ext cx="1554480" cy="347472"/>
          </a:xfrm>
          <a:prstGeom prst="roundRect">
            <a:avLst/>
          </a:prstGeom>
          <a:solidFill>
            <a:srgbClr val="23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00600" y="472744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SECURE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4709160"/>
            <a:ext cx="1828800" cy="347472"/>
          </a:xfrm>
          <a:prstGeom prst="roundRect">
            <a:avLst/>
          </a:prstGeom>
          <a:solidFill>
            <a:srgbClr val="188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472744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CONTACTLESS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1379</Words>
  <Application>Microsoft Office PowerPoint</Application>
  <PresentationFormat>Widescreen</PresentationFormat>
  <Paragraphs>243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BALA -_-</cp:lastModifiedBy>
  <cp:revision>3</cp:revision>
  <dcterms:created xsi:type="dcterms:W3CDTF">2013-01-27T09:14:16Z</dcterms:created>
  <dcterms:modified xsi:type="dcterms:W3CDTF">2026-08-19T10:16:04Z</dcterms:modified>
  <cp:category/>
</cp:coreProperties>
</file>