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3931920"/>
            <a:ext cx="4114800" cy="4114800"/>
          </a:xfrm>
          <a:prstGeom prst="ellipse">
            <a:avLst/>
          </a:prstGeom>
          <a:solidFill>
            <a:srgbClr val="14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B54D"/>
                </a:solidFill>
                <a:latin typeface="Calibri"/>
              </a:rPr>
              <a:t>PROJECT-I  •  ZEROTH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8778240" cy="21031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Smart Attendance System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Using Face Recognition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2044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016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33832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ADCFC"/>
                </a:solidFill>
                <a:latin typeface="Calibri"/>
              </a:rPr>
              <a:t>AI + COMPUTER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52044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016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06240" y="3520440"/>
            <a:ext cx="33832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ADCFC"/>
                </a:solidFill>
                <a:latin typeface="Calibri"/>
              </a:rPr>
              <a:t>FACE RECOGNITION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52044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016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3520440"/>
            <a:ext cx="338328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ADCFC"/>
                </a:solidFill>
                <a:latin typeface="Calibri"/>
              </a:rPr>
              <a:t>AUTOMATED ATTENDANCE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97680"/>
            <a:ext cx="5394960" cy="1965960"/>
          </a:xfrm>
          <a:prstGeom prst="rect">
            <a:avLst/>
          </a:prstGeom>
          <a:solidFill>
            <a:srgbClr val="141A47"/>
          </a:solidFill>
          <a:ln w="12700">
            <a:solidFill>
              <a:srgbClr val="2A3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46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B54D"/>
                </a:solidFill>
                <a:latin typeface="Calibri"/>
              </a:rP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502920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A. Kannan</a:t>
            </a:r>
            <a:r>
              <a:rPr sz="1300" b="0">
                <a:solidFill>
                  <a:srgbClr val="CADCFC"/>
                </a:solidFill>
                <a:latin typeface="Calibri"/>
              </a:rPr>
              <a:t>  —  95192309015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R. Muthu Bala</a:t>
            </a:r>
            <a:r>
              <a:rPr sz="1300" b="0">
                <a:solidFill>
                  <a:srgbClr val="CADCFC"/>
                </a:solidFill>
                <a:latin typeface="Calibri"/>
              </a:rPr>
              <a:t>  —  95192309028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M. Santhosh</a:t>
            </a:r>
            <a:r>
              <a:rPr sz="1300" b="0">
                <a:solidFill>
                  <a:srgbClr val="CADCFC"/>
                </a:solidFill>
                <a:latin typeface="Calibri"/>
              </a:rPr>
              <a:t>  —  95192309044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K. Akash</a:t>
            </a:r>
            <a:r>
              <a:rPr sz="1300" b="0">
                <a:solidFill>
                  <a:srgbClr val="CADCFC"/>
                </a:solidFill>
                <a:latin typeface="Calibri"/>
              </a:rPr>
              <a:t>  —  95192309701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297680"/>
            <a:ext cx="5212080" cy="1965960"/>
          </a:xfrm>
          <a:prstGeom prst="rect">
            <a:avLst/>
          </a:prstGeom>
          <a:solidFill>
            <a:srgbClr val="141A47"/>
          </a:solidFill>
          <a:ln w="12700">
            <a:solidFill>
              <a:srgbClr val="2A3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480560"/>
            <a:ext cx="46634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B54D"/>
                </a:solidFill>
                <a:latin typeface="Calibri"/>
              </a:rPr>
              <a:t>Project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54880"/>
            <a:ext cx="46634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Mrs. V. Devi Nandhini, M.E.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120640"/>
            <a:ext cx="46634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Assistant Professor, Department of AI &amp; 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532120"/>
            <a:ext cx="46634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B54D"/>
                </a:solidFill>
                <a:latin typeface="Calibri"/>
              </a:rPr>
              <a:t>Institution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788152"/>
            <a:ext cx="4663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P.S.R. Engineering College, Sivakasi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584"/>
                </a:solidFill>
                <a:latin typeface="Calibri"/>
              </a:rPr>
              <a:t>Department of Artificial Intelligence and Data Science  |  P.S.R. Engineering College, Sivakasi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2.  DOMAIN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Artificial Intelligence &amp;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584"/>
                </a:solidFill>
                <a:latin typeface="Calibri"/>
              </a:rPr>
              <a:t>2</a:t>
            </a:r>
          </a:p>
        </p:txBody>
      </p:sp>
      <p:pic>
        <p:nvPicPr>
          <p:cNvPr id="5" name="Picture 4" descr="lap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85216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0" y="1828800"/>
            <a:ext cx="51480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03720" y="2011680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Core Focus Areas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514600"/>
            <a:ext cx="45720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5B6584"/>
                </a:solidFill>
                <a:latin typeface="Calibri"/>
              </a:rPr>
              <a:t>The project falls under the broad domain of AI and Computer Vision, specifically focusing on:</a:t>
            </a:r>
          </a:p>
        </p:txBody>
      </p:sp>
      <p:sp>
        <p:nvSpPr>
          <p:cNvPr id="9" name="Oval 8"/>
          <p:cNvSpPr/>
          <p:nvPr/>
        </p:nvSpPr>
        <p:spPr>
          <a:xfrm>
            <a:off x="6903720" y="3429000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3429000"/>
            <a:ext cx="3657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429000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Deep Learning Algorithms</a:t>
            </a:r>
          </a:p>
        </p:txBody>
      </p:sp>
      <p:sp>
        <p:nvSpPr>
          <p:cNvPr id="12" name="Oval 11"/>
          <p:cNvSpPr/>
          <p:nvPr/>
        </p:nvSpPr>
        <p:spPr>
          <a:xfrm>
            <a:off x="6903720" y="3904487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3904487"/>
            <a:ext cx="3657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904487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Digital Image Processing</a:t>
            </a:r>
          </a:p>
        </p:txBody>
      </p:sp>
      <p:sp>
        <p:nvSpPr>
          <p:cNvPr id="15" name="Oval 14"/>
          <p:cNvSpPr/>
          <p:nvPr/>
        </p:nvSpPr>
        <p:spPr>
          <a:xfrm>
            <a:off x="6903720" y="4379976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4379976"/>
            <a:ext cx="3657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379976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Biometric Authentication</a:t>
            </a:r>
          </a:p>
        </p:txBody>
      </p:sp>
      <p:sp>
        <p:nvSpPr>
          <p:cNvPr id="18" name="Oval 17"/>
          <p:cNvSpPr/>
          <p:nvPr/>
        </p:nvSpPr>
        <p:spPr>
          <a:xfrm>
            <a:off x="6903720" y="4855464"/>
            <a:ext cx="365760" cy="3657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4855464"/>
            <a:ext cx="3657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855464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Pattern Recognition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23560"/>
            <a:ext cx="11274552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Project direction:  </a:t>
            </a:r>
            <a:r>
              <a:rPr sz="1200" b="0">
                <a:solidFill>
                  <a:srgbClr val="5B6584"/>
                </a:solidFill>
                <a:latin typeface="Calibri"/>
              </a:rPr>
              <a:t>replace manual roll calls with an automated, face-recognition-based smart attendance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3.  REFERENCE BASE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Real-Time Student Face Recognition Attendance System Using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584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745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82296" cy="841248"/>
          </a:xfrm>
          <a:prstGeom prst="rect">
            <a:avLst/>
          </a:prstGeom>
          <a:solidFill>
            <a:srgbClr val="E8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92608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83080"/>
            <a:ext cx="777240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584"/>
                </a:solidFill>
                <a:latin typeface="Calibri"/>
              </a:rPr>
              <a:t>Real-Time Student Face Recognition Attendance System Using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12745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82296" cy="841248"/>
          </a:xfrm>
          <a:prstGeom prst="rect">
            <a:avLst/>
          </a:prstGeom>
          <a:solidFill>
            <a:srgbClr val="E8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292608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Published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43200"/>
            <a:ext cx="777240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584"/>
                </a:solidFill>
                <a:latin typeface="Calibri"/>
              </a:rPr>
              <a:t>IEEE ICIPRoB 2024 (International Conference)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112745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82296" cy="841248"/>
          </a:xfrm>
          <a:prstGeom prst="rect">
            <a:avLst/>
          </a:prstGeom>
          <a:solidFill>
            <a:srgbClr val="E8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292608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Objective of Base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703320"/>
            <a:ext cx="777240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584"/>
                </a:solidFill>
                <a:latin typeface="Calibri"/>
              </a:rPr>
              <a:t>To design a scalable attendance system using Haar Cascades and LBPH algorithms for educational institutions.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1127455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82296" cy="841248"/>
          </a:xfrm>
          <a:prstGeom prst="rect">
            <a:avLst/>
          </a:prstGeom>
          <a:solidFill>
            <a:srgbClr val="E8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292608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Key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663440"/>
            <a:ext cx="7772400" cy="8412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5B6584"/>
                </a:solidFill>
                <a:latin typeface="Calibri"/>
              </a:rPr>
              <a:t>Achieved a recognition accuracy of 96% and reduced manual attendance time by 85%.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15000"/>
            <a:ext cx="11274552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60704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B54D"/>
                </a:solidFill>
                <a:latin typeface="Cambria"/>
              </a:rPr>
              <a:t>96%  </a:t>
            </a:r>
            <a:r>
              <a:rPr sz="1400" b="0">
                <a:solidFill>
                  <a:srgbClr val="CADCFC"/>
                </a:solidFill>
                <a:latin typeface="Calibri"/>
              </a:rPr>
              <a:t>recognition accuracy   •   </a:t>
            </a:r>
            <a:r>
              <a:rPr sz="1400" b="1">
                <a:solidFill>
                  <a:srgbClr val="E8B54D"/>
                </a:solidFill>
                <a:latin typeface="Cambria"/>
              </a:rPr>
              <a:t>85%  </a:t>
            </a:r>
            <a:r>
              <a:rPr sz="1400" b="0">
                <a:solidFill>
                  <a:srgbClr val="CADCFC"/>
                </a:solidFill>
                <a:latin typeface="Calibri"/>
              </a:rPr>
              <a:t>less manual attendance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4. 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An Automated, Contactless Smart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584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7406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73152" cy="1600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69494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B54D"/>
                </a:solidFill>
                <a:latin typeface="Cambria"/>
              </a:rPr>
              <a:t>PROBLEM →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6949440" cy="1508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B6584"/>
                </a:solidFill>
                <a:latin typeface="Calibri"/>
              </a:rPr>
              <a:t>Traditional attendance management, such as roll calls, is time-consuming and prone to proxy attendance. This project proposes an automated </a:t>
            </a:r>
            <a:r>
              <a:rPr sz="1300" b="1">
                <a:solidFill>
                  <a:srgbClr val="1E2761"/>
                </a:solidFill>
                <a:latin typeface="Calibri"/>
              </a:rPr>
              <a:t>Smart Attendance System</a:t>
            </a:r>
            <a:r>
              <a:rPr sz="1300" b="0">
                <a:solidFill>
                  <a:srgbClr val="5B6584"/>
                </a:solidFill>
                <a:latin typeface="Calibri"/>
              </a:rPr>
              <a:t> using real-time facial recognition.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7406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73152" cy="1600200"/>
          </a:xfrm>
          <a:prstGeom prst="rect">
            <a:avLst/>
          </a:prstGeom>
          <a:solidFill>
            <a:srgbClr val="E8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69494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B54D"/>
                </a:solidFill>
                <a:latin typeface="Cambria"/>
              </a:rP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6949440" cy="1508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5B6584"/>
                </a:solidFill>
                <a:latin typeface="Calibri"/>
              </a:rPr>
              <a:t>Utilizing high-definition cameras and deep learning models, the system captures student faces, extracts features, and matches them against a pre-registered database. Attendance is logged automatically in a secure database, providing a seamless, contactless, and fraud-proof solution for modern classrooms.</a:t>
            </a:r>
          </a:p>
        </p:txBody>
      </p:sp>
      <p:pic>
        <p:nvPicPr>
          <p:cNvPr id="13" name="Picture 12" descr="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783080"/>
            <a:ext cx="3593592" cy="4114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138160" y="1783080"/>
            <a:ext cx="3593592" cy="4114800"/>
          </a:xfrm>
          <a:prstGeom prst="rect">
            <a:avLst/>
          </a:prstGeom>
          <a:noFill/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5.  MAIN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Three Objectives of the Smart Attendance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584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5935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3017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E2761"/>
                </a:solidFill>
                <a:latin typeface="Cambria"/>
              </a:rPr>
              <a:t>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30175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B6584"/>
                </a:solidFill>
                <a:latin typeface="Calibri"/>
              </a:rPr>
              <a:t>To eliminate manual roll calls and automate the entire attendance logging process.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935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17720" y="21488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5029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017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E2761"/>
                </a:solidFill>
                <a:latin typeface="Cambria"/>
              </a:rPr>
              <a:t>Eliminate Proxy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91840"/>
            <a:ext cx="30175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B6584"/>
                </a:solidFill>
                <a:latin typeface="Calibri"/>
              </a:rPr>
              <a:t>To ensure 100% accuracy and prevent students from marking attendance for others.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59359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58200" y="21488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2148840"/>
            <a:ext cx="5029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88920"/>
            <a:ext cx="301752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E2761"/>
                </a:solidFill>
                <a:latin typeface="Cambria"/>
              </a:rPr>
              <a:t>Real-time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91840"/>
            <a:ext cx="30175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B6584"/>
                </a:solidFill>
                <a:latin typeface="Calibri"/>
              </a:rPr>
              <a:t>To provide instant access to attendance records for faculty and administrators.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23560"/>
            <a:ext cx="11274552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Goal:  </a:t>
            </a:r>
            <a:r>
              <a:rPr sz="1200" b="0">
                <a:solidFill>
                  <a:srgbClr val="5B6584"/>
                </a:solidFill>
                <a:latin typeface="Calibri"/>
              </a:rPr>
              <a:t>AUTOMATIC  +  PROXY-FREE  +  REAL-TIME ATTENDANCE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6.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The Inefficiency of Manual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584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7455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73152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98480" cy="1508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5B6584"/>
                </a:solidFill>
                <a:latin typeface="Calibri"/>
              </a:rPr>
              <a:t>Current paper-based systems are highly inefficient. Professors spend 10–15 minutes of a 50-minute lecture just on roll calls. Furthermore, manual logs are difficult to manage, store, and analyze for long-term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35935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40480"/>
            <a:ext cx="25603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310896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B6584"/>
                </a:solidFill>
                <a:latin typeface="Calibri"/>
              </a:rPr>
              <a:t>High risk of manual errors and proxy marking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566160"/>
            <a:ext cx="35935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2000" y="3840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3840480"/>
            <a:ext cx="5029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40480"/>
            <a:ext cx="25603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Lost 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17720"/>
            <a:ext cx="310896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B6584"/>
                </a:solidFill>
                <a:latin typeface="Calibri"/>
              </a:rPr>
              <a:t>Loss of productivity for both staff and students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566160"/>
            <a:ext cx="35935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412480" y="3840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3840480"/>
            <a:ext cx="5029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840480"/>
            <a:ext cx="25603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No Real-time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617720"/>
            <a:ext cx="310896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5B6584"/>
                </a:solidFill>
                <a:latin typeface="Calibri"/>
              </a:rPr>
              <a:t>No real-time reporting or parent notification capabilities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584"/>
                </a:solidFill>
                <a:latin typeface="Calibri"/>
              </a:rPr>
              <a:t>Time and accuracy are lost every class — an automated system is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7.  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A Four-Step Face Recognition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584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60604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B54D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21945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E2761"/>
                </a:solidFill>
                <a:latin typeface="Cambria"/>
              </a:rP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21945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5B6584"/>
                </a:solidFill>
                <a:latin typeface="Calibri"/>
              </a:rPr>
              <a:t>Using Haar Cascades or MTCNN to detect human faces in live video streams.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200400"/>
            <a:ext cx="2286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B54D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9202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920240"/>
            <a:ext cx="260604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B54D"/>
                </a:solidFill>
                <a:latin typeface="Cambr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80360"/>
            <a:ext cx="21945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E2761"/>
                </a:solidFill>
                <a:latin typeface="Cambria"/>
              </a:rPr>
              <a:t>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383280"/>
            <a:ext cx="21945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5B6584"/>
                </a:solidFill>
                <a:latin typeface="Calibri"/>
              </a:rPr>
              <a:t>Extracting 128-dimensional facial embeddings for each detected face.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200400"/>
            <a:ext cx="2286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B54D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9202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1920240"/>
            <a:ext cx="2606040" cy="822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19456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B54D"/>
                </a:solidFill>
                <a:latin typeface="Cambr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880360"/>
            <a:ext cx="21945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E2761"/>
                </a:solidFill>
                <a:latin typeface="Cambria"/>
              </a:rPr>
              <a:t>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383280"/>
            <a:ext cx="21945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5B6584"/>
                </a:solidFill>
                <a:latin typeface="Calibri"/>
              </a:rPr>
              <a:t>Comparing embeddings with the registered database using Euclidean distance.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200400"/>
            <a:ext cx="2286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E8B54D"/>
                </a:solidFill>
                <a:latin typeface="Calibr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9202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1920240"/>
            <a:ext cx="2606040" cy="82296"/>
          </a:xfrm>
          <a:prstGeom prst="rect">
            <a:avLst/>
          </a:prstGeom>
          <a:solidFill>
            <a:srgbClr val="E8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9720" y="2194560"/>
            <a:ext cx="219456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E8B54D"/>
                </a:solidFill>
                <a:latin typeface="Cambria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880360"/>
            <a:ext cx="219456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E2761"/>
                </a:solidFill>
                <a:latin typeface="Cambria"/>
              </a:rPr>
              <a:t>Logging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383280"/>
            <a:ext cx="21945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>
                <a:solidFill>
                  <a:srgbClr val="5B6584"/>
                </a:solidFill>
                <a:latin typeface="Calibri"/>
              </a:rPr>
              <a:t>Recording the Match ID and Timestamp into the Attendance SQL Database.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23560"/>
            <a:ext cx="11274552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Flow:  </a:t>
            </a:r>
            <a:r>
              <a:rPr sz="1200" b="0">
                <a:solidFill>
                  <a:srgbClr val="5B6584"/>
                </a:solidFill>
                <a:latin typeface="Calibri"/>
              </a:rPr>
              <a:t>LIVE VIDEO  →  DETECT  →  ENCODE  →  MATCH  →  LOG ATTENDANCE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B54D"/>
                </a:solidFill>
                <a:latin typeface="Cambria"/>
              </a:rPr>
              <a:t>8.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Our Architecture Follows a Modular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141A47"/>
          </a:solidFill>
          <a:ln w="1270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8B54D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17373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A webcam captures live 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834640"/>
            <a:ext cx="3017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B54D"/>
                </a:solidFill>
                <a:latin typeface="Calibr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210312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141A47"/>
          </a:solidFill>
          <a:ln w="1270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70632" y="219456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8B54D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60604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3017520"/>
            <a:ext cx="17373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OpenCV processes the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834640"/>
            <a:ext cx="3017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B54D"/>
                </a:solidFill>
                <a:latin typeface="Calibri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210312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141A47"/>
          </a:solidFill>
          <a:ln w="1270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84064" y="219456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8B54D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60604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Recognition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017520"/>
            <a:ext cx="17373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Deep Learning model identifies the person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2834640"/>
            <a:ext cx="3017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B54D"/>
                </a:solidFill>
                <a:latin typeface="Calibr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210312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141A47"/>
          </a:solidFill>
          <a:ln w="1270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97496" y="219456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8B54D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60604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</a:rPr>
              <a:t>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3017520"/>
            <a:ext cx="17373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SQLite DB updates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2834640"/>
            <a:ext cx="301752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B54D"/>
                </a:solidFill>
                <a:latin typeface="Calibri"/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210312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E8B54D"/>
          </a:solidFill>
          <a:ln w="1270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10928" y="219456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E2761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606040"/>
            <a:ext cx="1828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3017520"/>
            <a:ext cx="173736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1E2761"/>
                </a:solidFill>
                <a:latin typeface="Calibri"/>
              </a:rPr>
              <a:t>Web interface displays the report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solidFill>
            <a:srgbClr val="141A47"/>
          </a:solidFill>
          <a:ln w="12700">
            <a:solidFill>
              <a:srgbClr val="2A3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572000"/>
            <a:ext cx="106070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8B54D"/>
                </a:solidFill>
                <a:latin typeface="Calibri"/>
              </a:rPr>
              <a:t>Pipeline:  </a:t>
            </a:r>
            <a:r>
              <a:rPr sz="1300" b="0">
                <a:solidFill>
                  <a:srgbClr val="CADCFC"/>
                </a:solidFill>
                <a:latin typeface="Calibri"/>
              </a:rPr>
              <a:t>Webcam → OpenCV → Deep Learning model → SQLite database → Web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607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016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760720"/>
            <a:ext cx="26060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ADCFC"/>
                </a:solidFill>
                <a:latin typeface="Calibri"/>
              </a:rPr>
              <a:t>LIVE CAPTURE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57607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016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91840" y="5760720"/>
            <a:ext cx="26060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ADCFC"/>
                </a:solidFill>
                <a:latin typeface="Calibri"/>
              </a:rPr>
              <a:t>FACE IDENTIFICATION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57607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016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0" y="5760720"/>
            <a:ext cx="26060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ADCFC"/>
                </a:solidFill>
                <a:latin typeface="Calibri"/>
              </a:rPr>
              <a:t>AUTO LOGGING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20" y="576072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141A47"/>
          </a:solidFill>
          <a:ln w="10160">
            <a:solidFill>
              <a:srgbClr val="E8B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0" y="5760720"/>
            <a:ext cx="260604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ADCFC"/>
                </a:solidFill>
                <a:latin typeface="Calibri"/>
              </a:rPr>
              <a:t>WEB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9.  REQUIREMENTS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Software and 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584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112745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109728" marR="109728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Technology / Component</a:t>
                      </a:r>
                    </a:p>
                  </a:txBody>
                  <a:tcPr marL="109728" marR="109728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761"/>
                          </a:solidFill>
                          <a:latin typeface="Calibri"/>
                        </a:rPr>
                        <a:t>Programming Language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B6584"/>
                          </a:solidFill>
                          <a:latin typeface="Calibri"/>
                        </a:rPr>
                        <a:t>Python 3.x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761"/>
                          </a:solidFill>
                          <a:latin typeface="Calibri"/>
                        </a:rPr>
                        <a:t>Computer Vision Library</a:t>
                      </a:r>
                    </a:p>
                  </a:txBody>
                  <a:tcPr marL="109728" marR="10972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B6584"/>
                          </a:solidFill>
                          <a:latin typeface="Calibri"/>
                        </a:rPr>
                        <a:t>OpenCV (Open Source Computer Vision)</a:t>
                      </a:r>
                    </a:p>
                  </a:txBody>
                  <a:tcPr marL="109728" marR="10972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761"/>
                          </a:solidFill>
                          <a:latin typeface="Calibri"/>
                        </a:rPr>
                        <a:t>Deep Learning Models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B6584"/>
                          </a:solidFill>
                          <a:latin typeface="Calibri"/>
                        </a:rPr>
                        <a:t>Haar Cascade, LBPH, or FaceNet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761"/>
                          </a:solidFill>
                          <a:latin typeface="Calibri"/>
                        </a:rPr>
                        <a:t>Database Management</a:t>
                      </a:r>
                    </a:p>
                  </a:txBody>
                  <a:tcPr marL="109728" marR="109728"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B6584"/>
                          </a:solidFill>
                          <a:latin typeface="Calibri"/>
                        </a:rPr>
                        <a:t>SQLite / MySQL / CSV</a:t>
                      </a:r>
                    </a:p>
                  </a:txBody>
                  <a:tcPr marL="109728" marR="109728"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E2761"/>
                          </a:solidFill>
                          <a:latin typeface="Calibri"/>
                        </a:rPr>
                        <a:t>Hardware Requirement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5B6584"/>
                          </a:solidFill>
                          <a:latin typeface="Calibri"/>
                        </a:rPr>
                        <a:t>HD Webcam, 8GB RAM PC, Core i5 Processor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5B6584"/>
                </a:solidFill>
                <a:latin typeface="Calibri"/>
              </a:rPr>
              <a:t>Open-source, low-cost stack that runs on a standard classroom PC.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2761"/>
                </a:solidFill>
                <a:latin typeface="Cambria"/>
              </a:rPr>
              <a:t>10.  PERFORMANCE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Accuracy Under Common Environmental Variations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B6584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7455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0116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mbria"/>
              </a:rPr>
              <a:t>Scenario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24028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926080" y="2240280"/>
            <a:ext cx="2084831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12680" y="2148840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30%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53512"/>
            <a:ext cx="20116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mbria"/>
              </a:rPr>
              <a:t>Scenario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044952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26080" y="3044952"/>
            <a:ext cx="5212080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12680" y="2953512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75%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58184"/>
            <a:ext cx="20116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mbria"/>
              </a:rPr>
              <a:t>Scenario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3849624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0" y="3849624"/>
            <a:ext cx="639348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12680" y="3758184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92%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62856"/>
            <a:ext cx="20116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E2761"/>
                </a:solidFill>
                <a:latin typeface="Cambria"/>
              </a:rPr>
              <a:t>Scenario 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4654296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3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926080" y="4654296"/>
            <a:ext cx="6740956" cy="329184"/>
          </a:xfrm>
          <a:prstGeom prst="roundRect">
            <a:avLst>
              <a:gd name="adj" fmla="val 50000"/>
            </a:avLst>
          </a:prstGeom>
          <a:solidFill>
            <a:srgbClr val="E8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12680" y="4562856"/>
            <a:ext cx="155448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97%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B6584"/>
                </a:solidFill>
                <a:latin typeface="Calibri"/>
              </a:rPr>
              <a:t>Accuracy comparison based on common environmental variations (lighting, distance).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B54D"/>
                </a:solidFill>
                <a:latin typeface="Cambria"/>
              </a:rPr>
              <a:t>11. 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Scaling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465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5513832" cy="3108960"/>
          </a:xfrm>
          <a:prstGeom prst="rect">
            <a:avLst/>
          </a:prstGeom>
          <a:solidFill>
            <a:srgbClr val="141A47"/>
          </a:solidFill>
          <a:ln w="12700">
            <a:solidFill>
              <a:srgbClr val="2A3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513832" cy="82296"/>
          </a:xfrm>
          <a:prstGeom prst="rect">
            <a:avLst/>
          </a:prstGeom>
          <a:solidFill>
            <a:srgbClr val="E8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23160"/>
            <a:ext cx="420624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Anti-Spoofing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475488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CADCFC"/>
                </a:solidFill>
                <a:latin typeface="Calibri"/>
              </a:rPr>
              <a:t>Integrating anti-spoofing techniques (liveness detection) to prevent students from using photos to mark attendance.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5513832" cy="3108960"/>
          </a:xfrm>
          <a:prstGeom prst="rect">
            <a:avLst/>
          </a:prstGeom>
          <a:solidFill>
            <a:srgbClr val="141A47"/>
          </a:solidFill>
          <a:ln w="12700">
            <a:solidFill>
              <a:srgbClr val="2A3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513832" cy="82296"/>
          </a:xfrm>
          <a:prstGeom prst="rect">
            <a:avLst/>
          </a:prstGeom>
          <a:solidFill>
            <a:srgbClr val="E8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83680" y="24231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423160"/>
            <a:ext cx="5029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23160"/>
            <a:ext cx="420624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mbria"/>
              </a:rPr>
              <a:t>Cloud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00400"/>
            <a:ext cx="475488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CADCFC"/>
                </a:solidFill>
                <a:latin typeface="Calibri"/>
              </a:rPr>
              <a:t>Deploying the system on Cloud (AWS/Azure) to sync attendance across all departments in the college.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8B54D"/>
                </a:solidFill>
                <a:latin typeface="Calibri"/>
              </a:rPr>
              <a:t>Secure  •  Scalable  •  Institution-wide attendance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3931920"/>
            <a:ext cx="4114800" cy="4114800"/>
          </a:xfrm>
          <a:prstGeom prst="ellipse">
            <a:avLst/>
          </a:prstGeom>
          <a:solidFill>
            <a:srgbClr val="14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05840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1463040" cy="45720"/>
          </a:xfrm>
          <a:prstGeom prst="rect">
            <a:avLst/>
          </a:prstGeom>
          <a:solidFill>
            <a:srgbClr val="E8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809</Words>
  <Application>Microsoft Office PowerPoint</Application>
  <PresentationFormat>Widescreen</PresentationFormat>
  <Paragraphs>162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 -_-</cp:lastModifiedBy>
  <cp:revision>2</cp:revision>
  <dcterms:created xsi:type="dcterms:W3CDTF">2013-01-27T09:14:16Z</dcterms:created>
  <dcterms:modified xsi:type="dcterms:W3CDTF">2026-10-12T11:44:03Z</dcterms:modified>
  <cp:category/>
</cp:coreProperties>
</file>